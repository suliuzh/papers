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65" r:id="rId4"/>
    <p:sldId id="258" r:id="rId5"/>
    <p:sldId id="267" r:id="rId6"/>
    <p:sldId id="266" r:id="rId7"/>
    <p:sldId id="268" r:id="rId8"/>
    <p:sldId id="259" r:id="rId9"/>
    <p:sldId id="260" r:id="rId10"/>
    <p:sldId id="261" r:id="rId11"/>
    <p:sldId id="292" r:id="rId12"/>
    <p:sldId id="262" r:id="rId13"/>
    <p:sldId id="263" r:id="rId14"/>
    <p:sldId id="264" r:id="rId15"/>
    <p:sldId id="273" r:id="rId16"/>
    <p:sldId id="274" r:id="rId17"/>
    <p:sldId id="276" r:id="rId18"/>
    <p:sldId id="277" r:id="rId19"/>
    <p:sldId id="278" r:id="rId20"/>
    <p:sldId id="279" r:id="rId21"/>
    <p:sldId id="280" r:id="rId22"/>
    <p:sldId id="281" r:id="rId23"/>
    <p:sldId id="282" r:id="rId24"/>
    <p:sldId id="283" r:id="rId25"/>
    <p:sldId id="286" r:id="rId26"/>
    <p:sldId id="275" r:id="rId27"/>
    <p:sldId id="284" r:id="rId28"/>
    <p:sldId id="287" r:id="rId29"/>
    <p:sldId id="285" r:id="rId30"/>
    <p:sldId id="293" r:id="rId31"/>
    <p:sldId id="294" r:id="rId32"/>
    <p:sldId id="295" r:id="rId33"/>
    <p:sldId id="296" r:id="rId34"/>
    <p:sldId id="297" r:id="rId35"/>
    <p:sldId id="298" r:id="rId36"/>
    <p:sldId id="299" r:id="rId37"/>
    <p:sldId id="300" r:id="rId3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8205" autoAdjust="0"/>
  </p:normalViewPr>
  <p:slideViewPr>
    <p:cSldViewPr snapToGrid="0">
      <p:cViewPr varScale="1">
        <p:scale>
          <a:sx n="90" d="100"/>
          <a:sy n="90" d="100"/>
        </p:scale>
        <p:origin x="135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A451CF-4477-487C-80D6-EEDE3E70D9F2}" type="datetimeFigureOut">
              <a:rPr lang="zh-CN" altLang="en-US" smtClean="0"/>
              <a:t>2019/3/31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A57DDF-2958-4B06-BBB2-5E1DEC7CA66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6868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smtClean="0"/>
              <a:t>ICSE 2017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57DDF-2958-4B06-BBB2-5E1DEC7CA669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11884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该篇论文主要做的就是通过静态分析识别出代码中的</a:t>
            </a:r>
            <a:r>
              <a:rPr lang="en-US" altLang="zh-CN" dirty="0" smtClean="0"/>
              <a:t>Web API</a:t>
            </a:r>
            <a:r>
              <a:rPr lang="zh-CN" altLang="en-US" dirty="0" smtClean="0"/>
              <a:t>调用，检查是否符合</a:t>
            </a:r>
            <a:r>
              <a:rPr lang="en-US" altLang="zh-CN" dirty="0" smtClean="0"/>
              <a:t>API</a:t>
            </a:r>
            <a:r>
              <a:rPr lang="zh-CN" altLang="en-US" dirty="0" smtClean="0"/>
              <a:t>规范</a:t>
            </a:r>
            <a:endParaRPr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 smtClean="0"/>
              <a:t>The work is to check whether the request conforms to publicly available web API specifications </a:t>
            </a:r>
          </a:p>
          <a:p>
            <a:r>
              <a:rPr lang="zh-CN" altLang="en-US" dirty="0" smtClean="0"/>
              <a:t>创新点：一是静态的分析（区别于动态执行需要验证和覆盖率较低的问题），二是从客户端调用的角度</a:t>
            </a:r>
            <a:endParaRPr lang="en-US" altLang="zh-CN" dirty="0" smtClean="0"/>
          </a:p>
          <a:p>
            <a:r>
              <a:rPr lang="en-US" altLang="zh-CN" dirty="0" smtClean="0"/>
              <a:t>Endpoint</a:t>
            </a:r>
          </a:p>
          <a:p>
            <a:pPr marL="0" indent="0">
              <a:buNone/>
            </a:pPr>
            <a:r>
              <a:rPr lang="en-US" altLang="zh-CN" dirty="0" smtClean="0"/>
              <a:t>a URL and HTTP method</a:t>
            </a:r>
          </a:p>
          <a:p>
            <a:endParaRPr lang="en-US" altLang="zh-CN" dirty="0" smtClean="0"/>
          </a:p>
          <a:p>
            <a:r>
              <a:rPr lang="en-US" altLang="zh-CN" sz="1200" b="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Swagger</a:t>
            </a:r>
            <a:r>
              <a:rPr lang="en-US" altLang="zh-CN" dirty="0" smtClean="0"/>
              <a:t> 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57DDF-2958-4B06-BBB2-5E1DEC7CA669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31447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smtClean="0"/>
              <a:t>Inter-procedural static analysis</a:t>
            </a:r>
            <a:r>
              <a:rPr lang="zh-CN" altLang="en-US" dirty="0" smtClean="0"/>
              <a:t>指的是控制流分析和数据流分析</a:t>
            </a:r>
            <a:endParaRPr lang="en-US" altLang="zh-CN" dirty="0" smtClean="0"/>
          </a:p>
          <a:p>
            <a:r>
              <a:rPr lang="en-US" altLang="zh-CN" dirty="0" smtClean="0"/>
              <a:t>Checking a request against a web API Specification</a:t>
            </a:r>
            <a:r>
              <a:rPr lang="zh-CN" altLang="en-US" dirty="0" smtClean="0"/>
              <a:t>：首先检查在</a:t>
            </a:r>
            <a:r>
              <a:rPr lang="en-US" altLang="zh-CN" dirty="0" smtClean="0"/>
              <a:t>API</a:t>
            </a:r>
            <a:r>
              <a:rPr lang="zh-CN" altLang="en-US" dirty="0" smtClean="0"/>
              <a:t>规范中是否有这样的端点（</a:t>
            </a:r>
            <a:r>
              <a:rPr lang="en-US" altLang="zh-CN" dirty="0" smtClean="0"/>
              <a:t>endpoint</a:t>
            </a:r>
            <a:r>
              <a:rPr lang="zh-CN" altLang="en-US" dirty="0" smtClean="0"/>
              <a:t>），然后在确定端点之后检查参数格式是否一致，最后检查写入请求体中的数据是否正确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57DDF-2958-4B06-BBB2-5E1DEC7CA669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10421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altLang="zh-CN" dirty="0" smtClean="0"/>
              <a:t>Field-based Call Graph Builder</a:t>
            </a:r>
            <a:endParaRPr lang="zh-CN" altLang="zh-CN" dirty="0" smtClean="0"/>
          </a:p>
          <a:p>
            <a:pPr marL="0" indent="0">
              <a:buNone/>
            </a:pPr>
            <a:r>
              <a:rPr lang="en-US" altLang="zh-CN" dirty="0" smtClean="0"/>
              <a:t>   In our implementation, we used the field-based call graph construction available in WALA .We take all functions in the script as entry points for the call graph</a:t>
            </a:r>
            <a:endParaRPr lang="zh-CN" altLang="zh-CN" dirty="0" smtClean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altLang="zh-CN" dirty="0" smtClean="0"/>
              <a:t>Web Request Locator</a:t>
            </a:r>
            <a:endParaRPr lang="zh-CN" altLang="zh-CN" dirty="0" smtClean="0"/>
          </a:p>
          <a:p>
            <a:pPr marL="0" indent="0">
              <a:buNone/>
            </a:pPr>
            <a:r>
              <a:rPr lang="en-US" altLang="zh-CN" dirty="0" smtClean="0"/>
              <a:t>   To identify API invocations, we look for framework-specific patterns in the call graph. For jQuery, we handle the most common patterns, i.e., function calls to $.ajax, $.get, and $.post</a:t>
            </a:r>
            <a:r>
              <a:rPr lang="zh-CN" altLang="zh-CN" dirty="0" smtClean="0"/>
              <a:t>。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altLang="zh-CN" dirty="0" smtClean="0"/>
              <a:t>Backward Slicer for Request Marshaling</a:t>
            </a:r>
            <a:endParaRPr lang="zh-CN" altLang="zh-CN" dirty="0" smtClean="0"/>
          </a:p>
          <a:p>
            <a:pPr marL="0" indent="0">
              <a:buNone/>
            </a:pPr>
            <a:r>
              <a:rPr lang="en-US" altLang="zh-CN" dirty="0" smtClean="0"/>
              <a:t>   Using WALA backward slicer, we recover all possible data flows that lead to the request.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57DDF-2958-4B06-BBB2-5E1DEC7CA669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859776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 smtClean="0"/>
              <a:t>The goal of the checking procedure is to match the information produced by the static analysis against formal web API specifications.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 smtClean="0"/>
              <a:t>这个地方还要重写</a:t>
            </a:r>
            <a:endParaRPr lang="zh-CN" altLang="zh-CN" dirty="0" smtClean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57DDF-2958-4B06-BBB2-5E1DEC7CA669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07640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收集数据具体是怎么操作的？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57DDF-2958-4B06-BBB2-5E1DEC7CA669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61798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smtClean="0"/>
              <a:t>Precision for endpoint</a:t>
            </a:r>
            <a:r>
              <a:rPr lang="en-US" altLang="zh-CN" baseline="0" dirty="0" smtClean="0"/>
              <a:t> checking</a:t>
            </a:r>
            <a:r>
              <a:rPr lang="en-US" altLang="zh-CN" dirty="0" smtClean="0"/>
              <a:t> </a:t>
            </a:r>
            <a:r>
              <a:rPr lang="en-US" altLang="zh-CN" dirty="0" smtClean="0">
                <a:sym typeface="Wingdings" panose="05000000000000000000" pitchFamily="2" charset="2"/>
              </a:rPr>
              <a:t>:96%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57DDF-2958-4B06-BBB2-5E1DEC7CA669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27565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57DDF-2958-4B06-BBB2-5E1DEC7CA669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46814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 smtClean="0"/>
              <a:t>Precision for</a:t>
            </a:r>
            <a:r>
              <a:rPr lang="en-US" altLang="zh-CN" baseline="0" dirty="0" smtClean="0"/>
              <a:t> payload data checking</a:t>
            </a:r>
            <a:r>
              <a:rPr lang="en-US" altLang="zh-CN" dirty="0" smtClean="0"/>
              <a:t> </a:t>
            </a:r>
            <a:r>
              <a:rPr lang="en-US" altLang="zh-CN" dirty="0" smtClean="0">
                <a:sym typeface="Wingdings" panose="05000000000000000000" pitchFamily="2" charset="2"/>
              </a:rPr>
              <a:t>:87.9%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57DDF-2958-4B06-BBB2-5E1DEC7CA669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624408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 smtClean="0"/>
              <a:t>Precision for query</a:t>
            </a:r>
            <a:r>
              <a:rPr lang="en-US" altLang="zh-CN" baseline="0" dirty="0" smtClean="0"/>
              <a:t> </a:t>
            </a:r>
            <a:r>
              <a:rPr lang="en-US" altLang="zh-CN" dirty="0" smtClean="0"/>
              <a:t>parameter</a:t>
            </a:r>
            <a:r>
              <a:rPr lang="en-US" altLang="zh-CN" baseline="0" dirty="0" smtClean="0"/>
              <a:t> checking</a:t>
            </a:r>
            <a:r>
              <a:rPr lang="en-US" altLang="zh-CN" dirty="0" smtClean="0"/>
              <a:t> </a:t>
            </a:r>
            <a:r>
              <a:rPr lang="en-US" altLang="zh-CN" dirty="0" smtClean="0">
                <a:sym typeface="Wingdings" panose="05000000000000000000" pitchFamily="2" charset="2"/>
              </a:rPr>
              <a:t>:99.9%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57DDF-2958-4B06-BBB2-5E1DEC7CA669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556077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可能的问题：</a:t>
            </a:r>
            <a:endParaRPr lang="en-US" altLang="zh-CN" dirty="0" smtClean="0"/>
          </a:p>
          <a:p>
            <a:r>
              <a:rPr lang="en-US" altLang="zh-CN" dirty="0" smtClean="0"/>
              <a:t>API</a:t>
            </a:r>
            <a:r>
              <a:rPr lang="zh-CN" altLang="en-US" dirty="0" smtClean="0"/>
              <a:t>规范可能存在问题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57DDF-2958-4B06-BBB2-5E1DEC7CA669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4150586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smtClean="0"/>
              <a:t>FSE 2016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57DDF-2958-4B06-BBB2-5E1DEC7CA669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36859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zh-CN" sz="20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静态分析需要考虑精度和性能两个方面，然后该论文使用动态运行信息来找到关键的上下文信息，对这些代码进行上下文敏感分析，会提高精度而不会影响性能。</a:t>
            </a:r>
            <a:endParaRPr lang="en-US" altLang="zh-CN" sz="20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diagnosis algorithm is applied to trace this</a:t>
            </a:r>
            <a:r>
              <a:rPr lang="en-US" altLang="zh-CN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bad”behavior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back to its root causes linked to specific functions. By applying a well-chosen context sensitivity policy</a:t>
            </a:r>
            <a:r>
              <a:rPr lang="en-US" altLang="zh-CN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 use on these functions during a fresh analysis pass, the</a:t>
            </a:r>
            <a:r>
              <a:rPr lang="en-US" altLang="zh-CN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anomalous behavior may be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circumventable</a:t>
            </a:r>
            <a:r>
              <a:rPr lang="en-US" altLang="zh-CN" sz="2000" dirty="0" smtClean="0"/>
              <a:t> 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zh-CN" sz="20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57DDF-2958-4B06-BBB2-5E1DEC7CA669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458256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实证分析说明对于</a:t>
            </a:r>
            <a:r>
              <a:rPr lang="en-US" altLang="zh-CN" dirty="0" err="1" smtClean="0"/>
              <a:t>Javascript</a:t>
            </a:r>
            <a:r>
              <a:rPr lang="zh-CN" altLang="en-US" dirty="0" smtClean="0"/>
              <a:t>静态分析，有些变量的上下文信息比较重要，这些是影响静态分析精度的</a:t>
            </a:r>
            <a:r>
              <a:rPr lang="en-US" altLang="zh-CN" dirty="0" smtClean="0"/>
              <a:t>root causes</a:t>
            </a:r>
            <a:r>
              <a:rPr lang="zh-CN" altLang="en-US" dirty="0" smtClean="0"/>
              <a:t>，所以需要设计方法来定位这些</a:t>
            </a:r>
            <a:r>
              <a:rPr lang="en-US" altLang="zh-CN" dirty="0" smtClean="0"/>
              <a:t>root causes</a:t>
            </a:r>
          </a:p>
          <a:p>
            <a:endParaRPr lang="en-US" altLang="zh-CN" dirty="0" smtClean="0"/>
          </a:p>
          <a:p>
            <a:r>
              <a:rPr lang="en-US" altLang="zh-CN" dirty="0" smtClean="0"/>
              <a:t>The existence of such “jumps” indicates that the overly-approximated results are frequently</a:t>
            </a:r>
            <a:r>
              <a:rPr lang="en-US" altLang="zh-CN" baseline="0" dirty="0" smtClean="0"/>
              <a:t> </a:t>
            </a:r>
            <a:r>
              <a:rPr lang="en-US" altLang="zh-CN" dirty="0" smtClean="0"/>
              <a:t>propagated, resulting in significant overall precision loss </a:t>
            </a:r>
          </a:p>
          <a:p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result also indicates that overly-approximated results of</a:t>
            </a:r>
            <a:r>
              <a:rPr lang="en-US" altLang="zh-CN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specific program constructs may pollute many places in the</a:t>
            </a:r>
            <a:r>
              <a:rPr lang="en-US" altLang="zh-CN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 due to copying during the points-to propagations</a:t>
            </a:r>
            <a:r>
              <a:rPr lang="en-US" altLang="zh-CN" dirty="0" smtClean="0"/>
              <a:t> </a:t>
            </a:r>
          </a:p>
          <a:p>
            <a:endParaRPr lang="en-US" altLang="zh-CN" dirty="0" smtClean="0"/>
          </a:p>
          <a:p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Motivation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These results motivated us to design an</a:t>
            </a:r>
            <a:r>
              <a:rPr lang="en-US" altLang="zh-CN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automated approach to identify root causes of imprecision</a:t>
            </a:r>
            <a:r>
              <a:rPr lang="en-US" altLang="zh-CN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via the differences in static analysis behavior</a:t>
            </a:r>
            <a:r>
              <a:rPr lang="en-US" altLang="zh-CN" dirty="0" smtClean="0"/>
              <a:t> </a:t>
            </a:r>
            <a:br>
              <a:rPr lang="en-US" altLang="zh-CN" dirty="0" smtClean="0"/>
            </a:b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57DDF-2958-4B06-BBB2-5E1DEC7CA669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8163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smtClean="0"/>
              <a:t>Root cause</a:t>
            </a:r>
            <a:r>
              <a:rPr lang="zh-CN" altLang="en-US" dirty="0" smtClean="0"/>
              <a:t>的定位和补救：面临的问题有两个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the program</a:t>
            </a:r>
            <a:b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construct has a wide reach within the propagation system(e.g., the values of the property access source[name] are assigned to target[name] at line 5 and are transitively propagated to about 500 other program variables or reference</a:t>
            </a:r>
            <a:r>
              <a:rPr lang="en-US" altLang="zh-CN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properties), and (ii) the impact of its wide reach is significant (e.g., looking up the property name of source at line 5</a:t>
            </a:r>
            <a:r>
              <a:rPr lang="en-US" altLang="zh-CN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produces the points-to size of 150)</a:t>
            </a:r>
            <a:r>
              <a:rPr lang="en-US" altLang="zh-CN" dirty="0" smtClean="0"/>
              <a:t> </a:t>
            </a:r>
          </a:p>
          <a:p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design an improvement suggestion algorithm that uses dynamic information to suggest appropriate</a:t>
            </a:r>
            <a:r>
              <a:rPr lang="en-US" altLang="zh-CN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context sensitivity to improve the analysis precision on the</a:t>
            </a:r>
            <a:r>
              <a:rPr lang="en-US" altLang="zh-CN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identified root causes</a:t>
            </a:r>
            <a:r>
              <a:rPr lang="en-US" altLang="zh-CN" dirty="0" smtClean="0"/>
              <a:t> </a:t>
            </a:r>
            <a:br>
              <a:rPr lang="en-US" altLang="zh-CN" dirty="0" smtClean="0"/>
            </a:br>
            <a:r>
              <a:rPr lang="en-US" altLang="zh-CN" dirty="0" smtClean="0"/>
              <a:t/>
            </a:r>
            <a:br>
              <a:rPr lang="en-US" altLang="zh-CN" dirty="0" smtClean="0"/>
            </a:b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57DDF-2958-4B06-BBB2-5E1DEC7CA669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927839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Labeled Propagation System</a:t>
            </a:r>
            <a:r>
              <a:rPr lang="en-US" altLang="zh-CN" dirty="0" smtClean="0"/>
              <a:t> </a:t>
            </a:r>
            <a:r>
              <a:rPr lang="zh-CN" altLang="en-US" dirty="0" smtClean="0"/>
              <a:t>：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system solves a constraint that assigns a program pointer v2 to another pointer</a:t>
            </a:r>
            <a:r>
              <a:rPr lang="en-US" altLang="zh-CN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v1 by adding the points-to set of v2 to that of v1</a:t>
            </a:r>
            <a:r>
              <a:rPr lang="en-US" altLang="zh-CN" dirty="0" smtClean="0"/>
              <a:t> </a:t>
            </a:r>
            <a:br>
              <a:rPr lang="en-US" altLang="zh-CN" dirty="0" smtClean="0"/>
            </a:b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Moreover, a label v2 is associated with the points-to set of v1 that</a:t>
            </a:r>
            <a:r>
              <a:rPr lang="en-US" altLang="zh-CN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indicates (some of) the points-to relations of v1 were propagated through v2</a:t>
            </a:r>
            <a:r>
              <a:rPr lang="en-US" altLang="zh-CN" dirty="0" smtClean="0"/>
              <a:t> </a:t>
            </a:r>
          </a:p>
          <a:p>
            <a:r>
              <a:rPr lang="zh-CN" altLang="en-US" dirty="0" smtClean="0"/>
              <a:t>我的理解：如果</a:t>
            </a:r>
            <a:r>
              <a:rPr lang="en-US" altLang="zh-CN" dirty="0" smtClean="0"/>
              <a:t>v1</a:t>
            </a:r>
            <a:r>
              <a:rPr lang="zh-CN" altLang="en-US" dirty="0" smtClean="0"/>
              <a:t>被赋值给了</a:t>
            </a:r>
            <a:r>
              <a:rPr lang="en-US" altLang="zh-CN" dirty="0" smtClean="0"/>
              <a:t>v2</a:t>
            </a:r>
            <a:r>
              <a:rPr lang="zh-CN" altLang="en-US" dirty="0" smtClean="0"/>
              <a:t>，则</a:t>
            </a:r>
            <a:r>
              <a:rPr lang="en-US" altLang="zh-CN" dirty="0" smtClean="0"/>
              <a:t>label v2</a:t>
            </a:r>
            <a:r>
              <a:rPr lang="zh-CN" altLang="en-US" dirty="0" smtClean="0"/>
              <a:t>将被赋值</a:t>
            </a:r>
            <a:r>
              <a:rPr lang="en-US" altLang="zh-CN" dirty="0" smtClean="0"/>
              <a:t>v1</a:t>
            </a:r>
            <a:r>
              <a:rPr lang="zh-CN" altLang="en-US" dirty="0" smtClean="0"/>
              <a:t>的指向集，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retain all these reference properties (e.g.,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psource_i.pname_j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as labels attached to</a:t>
            </a:r>
            <a:r>
              <a:rPr lang="en-US" altLang="zh-CN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points-to set of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vtmp</a:t>
            </a:r>
            <a:r>
              <a:rPr lang="en-US" altLang="zh-CN" dirty="0" smtClean="0"/>
              <a:t> </a:t>
            </a:r>
            <a:br>
              <a:rPr lang="en-US" altLang="zh-CN" dirty="0" smtClean="0"/>
            </a:b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57DDF-2958-4B06-BBB2-5E1DEC7CA669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609767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首先建立了一个预测模型，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prediction model can capture the</a:t>
            </a:r>
            <a:r>
              <a:rPr lang="en-US" altLang="zh-CN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“jump” phase of the points-to analysis shown in Figure 2</a:t>
            </a:r>
            <a:r>
              <a:rPr lang="en-US" altLang="zh-CN" dirty="0" smtClean="0"/>
              <a:t> </a:t>
            </a:r>
            <a:br>
              <a:rPr lang="en-US" altLang="zh-CN" dirty="0" smtClean="0"/>
            </a:b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57DDF-2958-4B06-BBB2-5E1DEC7CA669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9892602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因为获得了不同的上下文敏感的动态指向图，可以确定哪个</a:t>
            </a:r>
            <a:r>
              <a:rPr lang="en-US" altLang="zh-CN" dirty="0" smtClean="0"/>
              <a:t>policy</a:t>
            </a:r>
            <a:r>
              <a:rPr lang="zh-CN" altLang="en-US" dirty="0" smtClean="0"/>
              <a:t>是有用的。（</a:t>
            </a:r>
            <a:r>
              <a:rPr lang="en-US" altLang="zh-CN" dirty="0" smtClean="0"/>
              <a:t>policy</a:t>
            </a:r>
            <a:r>
              <a:rPr lang="zh-CN" altLang="en-US" dirty="0" smtClean="0"/>
              <a:t>包括</a:t>
            </a:r>
            <a:r>
              <a:rPr lang="en-US" altLang="zh-CN" dirty="0" smtClean="0"/>
              <a:t>call site</a:t>
            </a:r>
            <a:r>
              <a:rPr lang="zh-CN" altLang="en-US" dirty="0" smtClean="0"/>
              <a:t>、</a:t>
            </a:r>
            <a:r>
              <a:rPr lang="en-US" altLang="zh-CN" dirty="0" smtClean="0"/>
              <a:t>argument</a:t>
            </a:r>
            <a:r>
              <a:rPr lang="zh-CN" altLang="en-US" dirty="0" smtClean="0"/>
              <a:t>、</a:t>
            </a:r>
            <a:r>
              <a:rPr lang="en-US" altLang="zh-CN" dirty="0" smtClean="0"/>
              <a:t>everywhere</a:t>
            </a:r>
            <a:r>
              <a:rPr lang="zh-CN" altLang="en-US" dirty="0" smtClean="0"/>
              <a:t>）去确定哪种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calling context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</a:t>
            </a:r>
            <a:endParaRPr lang="en-US" altLang="zh-CN" dirty="0" smtClean="0"/>
          </a:p>
          <a:p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target program is executed to collect a dynamic</a:t>
            </a:r>
            <a:r>
              <a:rPr lang="en-US" altLang="zh-CN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trace</a:t>
            </a:r>
            <a:r>
              <a:rPr lang="en-US" altLang="zh-CN" dirty="0" smtClean="0"/>
              <a:t> </a:t>
            </a:r>
          </a:p>
          <a:p>
            <a:pPr marL="285750" indent="-285750">
              <a:buAutoNum type="romanLcParenBoth"/>
            </a:pP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function entries and</a:t>
            </a:r>
            <a:r>
              <a:rPr lang="en-US" altLang="zh-CN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exits; (ii) invocations; and (iii) property reads and writes</a:t>
            </a:r>
            <a:r>
              <a:rPr lang="en-US" altLang="zh-CN" dirty="0" smtClean="0"/>
              <a:t> </a:t>
            </a:r>
            <a:r>
              <a:rPr lang="zh-CN" altLang="en-US" dirty="0" smtClean="0"/>
              <a:t>动态的指向图</a:t>
            </a:r>
            <a:endParaRPr lang="en-US" altLang="zh-CN" dirty="0" smtClean="0"/>
          </a:p>
          <a:p>
            <a:pPr marL="0" indent="0">
              <a:buNone/>
            </a:pPr>
            <a:r>
              <a:rPr lang="zh-CN" altLang="en-US" dirty="0" smtClean="0"/>
              <a:t>此模块是通过动态的方法去确定选择哪种</a:t>
            </a:r>
            <a:r>
              <a:rPr lang="en-US" altLang="zh-CN" dirty="0" smtClean="0"/>
              <a:t>calling context</a:t>
            </a:r>
            <a:r>
              <a:rPr lang="zh-CN" altLang="en-US" dirty="0" smtClean="0"/>
              <a:t>是最好的。</a:t>
            </a:r>
            <a:r>
              <a:rPr lang="en-US" altLang="zh-CN" dirty="0" smtClean="0"/>
              <a:t/>
            </a:r>
            <a:br>
              <a:rPr lang="en-US" altLang="zh-CN" dirty="0" smtClean="0"/>
            </a:br>
            <a:endParaRPr lang="en-US" altLang="zh-CN" dirty="0" smtClean="0"/>
          </a:p>
          <a:p>
            <a:pPr marL="0" indent="0">
              <a:buNone/>
            </a:pPr>
            <a:r>
              <a:rPr lang="zh-CN" altLang="en-US" dirty="0" smtClean="0"/>
              <a:t>问题在于此项目适用，并不代表这里得到的结论可以用于其它项目</a:t>
            </a:r>
            <a:r>
              <a:rPr lang="en-US" altLang="zh-CN" dirty="0" smtClean="0"/>
              <a:t/>
            </a:r>
            <a:br>
              <a:rPr lang="en-US" altLang="zh-CN" dirty="0" smtClean="0"/>
            </a:b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57DDF-2958-4B06-BBB2-5E1DEC7CA669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299940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baseline="0" dirty="0" smtClean="0"/>
              <a:t>两组实验：</a:t>
            </a:r>
            <a:endParaRPr lang="en-US" altLang="zh-CN" baseline="0" dirty="0" smtClean="0"/>
          </a:p>
          <a:p>
            <a:r>
              <a:rPr lang="zh-CN" altLang="en-US" baseline="0" dirty="0" smtClean="0"/>
              <a:t>实验一：先对</a:t>
            </a:r>
            <a:r>
              <a:rPr lang="en-US" altLang="zh-CN" baseline="0" dirty="0" smtClean="0"/>
              <a:t>benchmark</a:t>
            </a:r>
            <a:r>
              <a:rPr lang="zh-CN" altLang="en-US" baseline="0" dirty="0" smtClean="0"/>
              <a:t>执行</a:t>
            </a:r>
            <a:r>
              <a:rPr lang="en-US" altLang="zh-CN" baseline="0" dirty="0" smtClean="0"/>
              <a:t>1-CFA</a:t>
            </a:r>
            <a:r>
              <a:rPr lang="zh-CN" altLang="en-US" baseline="0" dirty="0" smtClean="0"/>
              <a:t>分析，然后执行定位方法找到包含根本原因的函数，对这些函数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applied additional argument sensitivity on the first arguments</a:t>
            </a:r>
            <a:r>
              <a:rPr lang="en-US" altLang="zh-CN" dirty="0" smtClean="0"/>
              <a:t> </a:t>
            </a:r>
            <a:r>
              <a:rPr lang="zh-CN" altLang="en-US" dirty="0" smtClean="0"/>
              <a:t>，剩下的函数执行</a:t>
            </a:r>
            <a:r>
              <a:rPr lang="en-US" altLang="zh-CN" dirty="0" smtClean="0"/>
              <a:t>1-CFA</a:t>
            </a:r>
            <a:r>
              <a:rPr lang="zh-CN" altLang="en-US" dirty="0" smtClean="0"/>
              <a:t>分析。</a:t>
            </a:r>
            <a:endParaRPr lang="en-US" altLang="zh-CN" dirty="0" smtClean="0"/>
          </a:p>
          <a:p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whole-program 1-CFA and 1</a:t>
            </a:r>
            <a:r>
              <a:rPr lang="en-US" altLang="zh-CN" sz="1200" b="0" i="0" kern="1200" baseline="300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-argument-sensitive analysis, and the </a:t>
            </a:r>
            <a:r>
              <a:rPr lang="en-US" altLang="zh-CN" sz="1200" b="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selective 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analysis</a:t>
            </a:r>
            <a:r>
              <a:rPr lang="en-US" altLang="zh-CN" dirty="0" smtClean="0"/>
              <a:t> </a:t>
            </a:r>
          </a:p>
          <a:p>
            <a:r>
              <a:rPr lang="zh-CN" altLang="en-US" dirty="0" smtClean="0"/>
              <a:t>实验二：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applied the root-cause localization as well as</a:t>
            </a:r>
            <a:r>
              <a:rPr lang="en-US" altLang="zh-CN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improvement suggestion algorithms on the </a:t>
            </a:r>
            <a:r>
              <a:rPr lang="en-US" altLang="zh-CN" sz="1200" b="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baseline 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0-1-CFA</a:t>
            </a:r>
            <a:r>
              <a:rPr lang="en-US" altLang="zh-CN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analysis.</a:t>
            </a:r>
          </a:p>
          <a:p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Possible suggestions for root-cause functions include: </a:t>
            </a:r>
          </a:p>
          <a:p>
            <a:pPr marL="285750" indent="-285750">
              <a:buAutoNum type="romanLcParenBoth"/>
            </a:pP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context-insensitive analysis,</a:t>
            </a:r>
          </a:p>
          <a:p>
            <a:pPr marL="285750" indent="-285750">
              <a:buAutoNum type="romanLcParenBoth"/>
            </a:pP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single</a:t>
            </a:r>
            <a:r>
              <a:rPr lang="en-US" altLang="zh-CN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context-sensitive analysis (i.e., 1-CFA or argument sensitivity on any argument of the function5)</a:t>
            </a:r>
          </a:p>
          <a:p>
            <a:pPr marL="285750" indent="-285750">
              <a:buAutoNum type="romanLcParenBoth"/>
            </a:pP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combined</a:t>
            </a:r>
            <a:r>
              <a:rPr lang="en-US" altLang="zh-CN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context-sensitive analysis (e.g., 1-CFA + 1st-argument sensitivity)</a:t>
            </a:r>
            <a:r>
              <a:rPr lang="en-US" altLang="zh-CN" dirty="0" smtClean="0"/>
              <a:t> </a:t>
            </a:r>
            <a:br>
              <a:rPr lang="en-US" altLang="zh-CN" dirty="0" smtClean="0"/>
            </a:br>
            <a:r>
              <a:rPr lang="en-US" altLang="zh-CN" dirty="0" smtClean="0"/>
              <a:t/>
            </a:r>
            <a:br>
              <a:rPr lang="en-US" altLang="zh-CN" dirty="0" smtClean="0"/>
            </a:br>
            <a:r>
              <a:rPr lang="en-US" altLang="zh-CN" dirty="0" smtClean="0"/>
              <a:t/>
            </a:r>
            <a:br>
              <a:rPr lang="en-US" altLang="zh-CN" dirty="0" smtClean="0"/>
            </a:br>
            <a:endParaRPr lang="zh-CN" altLang="en-US" dirty="0" smtClean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57DDF-2958-4B06-BBB2-5E1DEC7CA669}" type="slidenum">
              <a:rPr lang="zh-CN" altLang="en-US" smtClean="0"/>
              <a:t>25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1322792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两个实验分别验证了这两个假设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57DDF-2958-4B06-BBB2-5E1DEC7CA669}" type="slidenum">
              <a:rPr lang="zh-CN" altLang="en-US" smtClean="0"/>
              <a:t>26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89839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result suggests that</a:t>
            </a:r>
          </a:p>
          <a:p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1-CFA analysis is imprecise to resolve the call targets in many cases, and </a:t>
            </a:r>
          </a:p>
          <a:p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(ii)</a:t>
            </a:r>
            <a:r>
              <a:rPr lang="en-US" altLang="zh-CN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because the </a:t>
            </a:r>
            <a:r>
              <a:rPr lang="en-US" altLang="zh-CN" sz="1200" b="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whole-combined 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analysis applies 1st-argument</a:t>
            </a:r>
            <a:r>
              <a:rPr lang="en-US" altLang="zh-CN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sensitivity over all the program, it may create many calling contexts for the functions that are not identified as root</a:t>
            </a:r>
            <a:r>
              <a:rPr lang="en-US" altLang="zh-CN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causes which may not significantly increase the analysis precision (e.g., in terms of the REAC_FUNC metric)</a:t>
            </a:r>
            <a:r>
              <a:rPr lang="en-US" altLang="zh-CN" dirty="0" smtClean="0"/>
              <a:t> </a:t>
            </a:r>
            <a:br>
              <a:rPr lang="en-US" altLang="zh-CN" dirty="0" smtClean="0"/>
            </a:b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57DDF-2958-4B06-BBB2-5E1DEC7CA669}" type="slidenum">
              <a:rPr lang="zh-CN" altLang="en-US" smtClean="0"/>
              <a:t>27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352341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57DDF-2958-4B06-BBB2-5E1DEC7CA669}" type="slidenum">
              <a:rPr lang="zh-CN" altLang="en-US" smtClean="0"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5247869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论文的创新点：</a:t>
            </a:r>
            <a:endParaRPr lang="en-US" altLang="zh-CN" dirty="0" smtClean="0"/>
          </a:p>
          <a:p>
            <a:r>
              <a:rPr lang="en-US" altLang="zh-CN" dirty="0" smtClean="0"/>
              <a:t>1</a:t>
            </a:r>
            <a:r>
              <a:rPr lang="zh-CN" altLang="en-US" dirty="0" smtClean="0"/>
              <a:t>、第一个定位静态分析精度不准的根本原因的工作</a:t>
            </a:r>
            <a:endParaRPr lang="en-US" altLang="zh-CN" dirty="0" smtClean="0"/>
          </a:p>
          <a:p>
            <a:r>
              <a:rPr lang="en-US" altLang="zh-CN" dirty="0" smtClean="0"/>
              <a:t>2</a:t>
            </a:r>
            <a:r>
              <a:rPr lang="zh-CN" altLang="en-US" dirty="0" smtClean="0"/>
              <a:t>、第一个使用动态信息自动建议上下文敏感类型</a:t>
            </a:r>
            <a:endParaRPr lang="en-US" altLang="zh-CN" dirty="0" smtClean="0"/>
          </a:p>
          <a:p>
            <a:r>
              <a:rPr lang="en-US" altLang="zh-CN" dirty="0" smtClean="0"/>
              <a:t>3</a:t>
            </a:r>
            <a:r>
              <a:rPr lang="zh-CN" altLang="en-US" dirty="0" smtClean="0"/>
              <a:t>、认为找到使得初始静态分析性能不好的原因</a:t>
            </a:r>
            <a:endParaRPr lang="en-US" altLang="zh-CN" dirty="0" smtClean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57DDF-2958-4B06-BBB2-5E1DEC7CA669}" type="slidenum">
              <a:rPr lang="zh-CN" altLang="en-US" smtClean="0"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104049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FSE 2018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57DDF-2958-4B06-BBB2-5E1DEC7CA669}" type="slidenum">
              <a:rPr lang="zh-CN" altLang="en-US" smtClean="0"/>
              <a:t>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7069736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研究背景：第三方库更新导致下游应用不兼容，语义版本控制（</a:t>
            </a:r>
            <a:r>
              <a:rPr lang="en-US" altLang="zh-CN" dirty="0" err="1" smtClean="0"/>
              <a:t>SemVer</a:t>
            </a:r>
            <a:r>
              <a:rPr lang="zh-CN" altLang="en-US" dirty="0" smtClean="0"/>
              <a:t>（主版本号、次版本号、修订号））作为一种解决办法，库作者会在版本号上标明是否有</a:t>
            </a:r>
            <a:r>
              <a:rPr lang="en-US" altLang="zh-CN" dirty="0" smtClean="0"/>
              <a:t>breaking change</a:t>
            </a:r>
            <a:r>
              <a:rPr lang="zh-CN" altLang="en-US" dirty="0" smtClean="0"/>
              <a:t>，存在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必须人工处理和不能捕捉细粒度的代码变更的问题。</a:t>
            </a:r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 unsurprisingly, it's impossible for that single number to contain enough meaningful information</a:t>
            </a: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本文提出一种自动检查库更新是否保证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API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兼容性的静态分析工具。与语义版本控制不同的是，不使用版本信息，而是直接对源代码计算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difference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涉及到三种语言：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Python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Ruby</a:t>
            </a:r>
          </a:p>
          <a:p>
            <a:r>
              <a:rPr lang="zh-CN" altLang="en-US" dirty="0" smtClean="0"/>
              <a:t>创新点</a:t>
            </a:r>
            <a:endParaRPr lang="en-US" altLang="zh-CN" dirty="0" smtClean="0"/>
          </a:p>
          <a:p>
            <a:r>
              <a:rPr lang="en-US" altLang="zh-CN" dirty="0" smtClean="0"/>
              <a:t>1</a:t>
            </a:r>
            <a:r>
              <a:rPr lang="zh-CN" altLang="en-US" dirty="0" smtClean="0"/>
              <a:t>、静态分析用于提醒库更新</a:t>
            </a:r>
            <a:endParaRPr lang="en-US" altLang="zh-CN" dirty="0" smtClean="0"/>
          </a:p>
          <a:p>
            <a:r>
              <a:rPr lang="en-US" altLang="zh-CN" dirty="0" smtClean="0"/>
              <a:t>2</a:t>
            </a:r>
            <a:r>
              <a:rPr lang="zh-CN" altLang="en-US" dirty="0" smtClean="0"/>
              <a:t>、</a:t>
            </a:r>
            <a:r>
              <a:rPr lang="en-US" altLang="zh-CN" dirty="0" smtClean="0"/>
              <a:t>diff</a:t>
            </a:r>
            <a:r>
              <a:rPr lang="zh-CN" altLang="en-US" dirty="0" smtClean="0"/>
              <a:t>查询可以在线性时间内完成</a:t>
            </a:r>
            <a:endParaRPr lang="en-US" altLang="zh-CN" dirty="0" smtClean="0"/>
          </a:p>
          <a:p>
            <a:r>
              <a:rPr lang="en-US" altLang="zh-CN" dirty="0" smtClean="0"/>
              <a:t>3</a:t>
            </a:r>
            <a:r>
              <a:rPr lang="zh-CN" altLang="en-US" dirty="0" smtClean="0"/>
              <a:t>、做了个实证分析证明了有版本违反了</a:t>
            </a:r>
            <a:r>
              <a:rPr lang="en-US" altLang="zh-CN" dirty="0" err="1" smtClean="0"/>
              <a:t>SemVer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57DDF-2958-4B06-BBB2-5E1DEC7CA669}" type="slidenum">
              <a:rPr lang="zh-CN" altLang="en-US" smtClean="0"/>
              <a:t>31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4507175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57DDF-2958-4B06-BBB2-5E1DEC7CA669}" type="slidenum">
              <a:rPr lang="zh-CN" altLang="en-US" smtClean="0"/>
              <a:t>32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28999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在计算</a:t>
            </a:r>
            <a:r>
              <a:rPr lang="en-US" altLang="zh-CN" dirty="0" smtClean="0"/>
              <a:t>diff</a:t>
            </a:r>
            <a:r>
              <a:rPr lang="zh-CN" altLang="en-US" dirty="0" smtClean="0"/>
              <a:t>的过程中，每次都需要构建一个调用图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57DDF-2958-4B06-BBB2-5E1DEC7CA669}" type="slidenum">
              <a:rPr lang="zh-CN" altLang="en-US" smtClean="0"/>
              <a:t>33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308756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 smtClean="0"/>
              <a:t>我们的方法是在仅连续的库版本之间预先计算</a:t>
            </a:r>
            <a:r>
              <a:rPr lang="en-US" altLang="zh-CN" dirty="0" smtClean="0"/>
              <a:t>diffs</a:t>
            </a:r>
            <a:r>
              <a:rPr lang="zh-CN" altLang="en-US" dirty="0" smtClean="0"/>
              <a:t>，然后组合各个</a:t>
            </a:r>
            <a:r>
              <a:rPr lang="en-US" altLang="zh-CN" dirty="0" smtClean="0"/>
              <a:t>diffs</a:t>
            </a:r>
            <a:r>
              <a:rPr lang="zh-CN" altLang="en-US" dirty="0" smtClean="0"/>
              <a:t>以导出任意版本间的</a:t>
            </a:r>
            <a:r>
              <a:rPr lang="en-US" altLang="zh-CN" dirty="0" smtClean="0"/>
              <a:t>diffs</a:t>
            </a:r>
            <a:r>
              <a:rPr lang="zh-CN" altLang="en-US" dirty="0" smtClean="0"/>
              <a:t>。 这实现了良好的平衡，需要线性的空间并且在实践中足够快地运行。</a:t>
            </a:r>
            <a:endParaRPr lang="en-US" altLang="zh-CN" dirty="0" smtClean="0"/>
          </a:p>
          <a:p>
            <a:r>
              <a:rPr lang="en-US" altLang="zh-CN" dirty="0" smtClean="0"/>
              <a:t>Diff</a:t>
            </a:r>
            <a:r>
              <a:rPr lang="zh-CN" altLang="en-US" dirty="0" smtClean="0"/>
              <a:t>复合，例如</a:t>
            </a:r>
            <a:endParaRPr lang="en-US" altLang="zh-CN" dirty="0" smtClean="0"/>
          </a:p>
          <a:p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compose Insert Delete = Missing</a:t>
            </a:r>
            <a:b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compose Delete Insert = Change</a:t>
            </a:r>
            <a:r>
              <a:rPr lang="en-US" altLang="zh-CN" dirty="0" smtClean="0"/>
              <a:t> </a:t>
            </a:r>
            <a:br>
              <a:rPr lang="en-US" altLang="zh-CN" dirty="0" smtClean="0"/>
            </a:br>
            <a:r>
              <a:rPr lang="zh-CN" altLang="en-US" dirty="0" smtClean="0"/>
              <a:t>这种形式（粒度是</a:t>
            </a:r>
            <a:r>
              <a:rPr lang="en-US" altLang="zh-CN" dirty="0" smtClean="0"/>
              <a:t>method</a:t>
            </a:r>
            <a:r>
              <a:rPr lang="zh-CN" altLang="en-US" dirty="0" smtClean="0"/>
              <a:t>）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57DDF-2958-4B06-BBB2-5E1DEC7CA669}" type="slidenum">
              <a:rPr lang="zh-CN" altLang="en-US" smtClean="0"/>
              <a:t>34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1254163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then use diﬀs to </a:t>
            </a:r>
            <a:r>
              <a:rPr lang="en-US" altLang="zh-CN" sz="1200" b="0" i="0" kern="1200" dirty="0" smtClean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suggest upgrades and determine if they induce</a:t>
            </a:r>
            <a:r>
              <a:rPr lang="en-US" altLang="zh-CN" sz="1200" b="0" i="0" kern="1200" baseline="0" dirty="0" smtClean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b="0" i="0" kern="1200" dirty="0" smtClean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breaking changes</a:t>
            </a:r>
          </a:p>
          <a:p>
            <a:r>
              <a:rPr lang="zh-CN" altLang="en-US" sz="1200" b="0" i="0" kern="1200" dirty="0" smtClean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从专有漏洞数据库中获取一个库中脆弱的版本，然后提醒更新库（找到不会造成漏洞的库）</a:t>
            </a:r>
            <a:endParaRPr lang="en-US" altLang="zh-CN" sz="1200" b="0" i="0" kern="1200" dirty="0" smtClean="0">
              <a:solidFill>
                <a:schemeClr val="accent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 smtClean="0">
                <a:solidFill>
                  <a:schemeClr val="accent1"/>
                </a:solidFill>
                <a:effectLst/>
                <a:latin typeface="+mn-lt"/>
                <a:ea typeface="+mn-ea"/>
                <a:cs typeface="+mn-cs"/>
              </a:rPr>
              <a:t>如果我没有理解错，意思就是通过（用户的调用图）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来检查一个库的更新是否存在问题</a:t>
            </a:r>
            <a:r>
              <a:rPr lang="zh-CN" altLang="en-US" dirty="0" smtClean="0"/>
              <a:t>，最后生成一个类似于此的补丁文件，标记涉及到的版本等信息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57DDF-2958-4B06-BBB2-5E1DEC7CA669}" type="slidenum">
              <a:rPr lang="zh-CN" altLang="en-US" smtClean="0"/>
              <a:t>35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386851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72% of libraries violate</a:t>
            </a:r>
            <a:r>
              <a:rPr lang="en-US" altLang="zh-CN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SemVer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altLang="zh-CN" sz="1200" b="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some 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version: the actual numbers are 80% (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RubyGems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</a:t>
            </a:r>
            <a:r>
              <a:rPr lang="en-US" altLang="zh-CN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67% (Maven Central), and 82% (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PyPI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 In addition, on average, 26%</a:t>
            </a:r>
            <a:r>
              <a:rPr lang="en-US" altLang="zh-CN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 all library versions are in violation, actual numbers being 31%</a:t>
            </a:r>
            <a:r>
              <a:rPr lang="en-US" altLang="zh-CN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RubyGems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24% (Maven Central), and 31% (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PyPI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altLang="zh-CN" dirty="0" smtClean="0"/>
              <a:t> </a:t>
            </a:r>
            <a:br>
              <a:rPr lang="en-US" altLang="zh-CN" dirty="0" smtClean="0"/>
            </a:br>
            <a:r>
              <a:rPr lang="zh-CN" altLang="en-US" dirty="0" smtClean="0"/>
              <a:t>首先讨论了语义版本控制被违反的情况，指出了未表明</a:t>
            </a:r>
            <a:r>
              <a:rPr lang="en-US" altLang="zh-CN" dirty="0" smtClean="0"/>
              <a:t>breaking API</a:t>
            </a:r>
            <a:r>
              <a:rPr lang="zh-CN" altLang="en-US" dirty="0" smtClean="0"/>
              <a:t>的版本</a:t>
            </a:r>
            <a:endParaRPr lang="en-US" altLang="zh-CN" dirty="0" smtClean="0"/>
          </a:p>
          <a:p>
            <a:r>
              <a:rPr lang="zh-CN" altLang="en-US" dirty="0" smtClean="0"/>
              <a:t>如在</a:t>
            </a:r>
            <a:r>
              <a:rPr lang="en-US" altLang="zh-CN" dirty="0" smtClean="0"/>
              <a:t>2.3.0</a:t>
            </a:r>
            <a:r>
              <a:rPr lang="zh-CN" altLang="en-US" dirty="0" smtClean="0"/>
              <a:t>和</a:t>
            </a:r>
            <a:r>
              <a:rPr lang="en-US" altLang="zh-CN" dirty="0" smtClean="0"/>
              <a:t>2.4.0</a:t>
            </a:r>
            <a:r>
              <a:rPr lang="zh-CN" altLang="en-US" dirty="0" smtClean="0"/>
              <a:t>版本之间被删掉了一个</a:t>
            </a:r>
            <a:r>
              <a:rPr lang="en-US" altLang="zh-CN" dirty="0" err="1" smtClean="0"/>
              <a:t>request.structures.Iteratorxy</a:t>
            </a:r>
            <a:endParaRPr lang="en-US" altLang="zh-CN" dirty="0" smtClean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57DDF-2958-4B06-BBB2-5E1DEC7CA669}" type="slidenum">
              <a:rPr lang="zh-CN" altLang="en-US" smtClean="0"/>
              <a:t>36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1536878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然后检查了开源项目的</a:t>
            </a:r>
            <a:r>
              <a:rPr lang="en-US" altLang="zh-CN" dirty="0" smtClean="0"/>
              <a:t>API </a:t>
            </a:r>
            <a:r>
              <a:rPr lang="zh-CN" altLang="en-US" dirty="0" smtClean="0"/>
              <a:t>不兼容问题，</a:t>
            </a:r>
            <a:r>
              <a:rPr lang="en-US" altLang="zh-CN" dirty="0" smtClean="0"/>
              <a:t>Java</a:t>
            </a:r>
            <a:r>
              <a:rPr lang="zh-CN" altLang="en-US" dirty="0" smtClean="0"/>
              <a:t>中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28 (18.7%) are non-breaking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en-US" altLang="zh-CN" dirty="0" smtClean="0"/>
              <a:t> </a:t>
            </a:r>
            <a:r>
              <a:rPr lang="zh-CN" altLang="en-US" dirty="0" smtClean="0"/>
              <a:t>其它语言的结果不一定可信，因为调用图的构建有问题</a:t>
            </a:r>
            <a:endParaRPr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 smtClean="0"/>
              <a:t>它的用处和不足：作为漏洞修复工具，仅仅静态可能是不够的，可以加上动态的方法</a:t>
            </a:r>
            <a:endParaRPr lang="en-US" altLang="zh-CN" dirty="0" smtClean="0"/>
          </a:p>
          <a:p>
            <a:r>
              <a:rPr lang="en-US" altLang="zh-CN" sz="1200" b="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Limitations of Static Analysis</a:t>
            </a:r>
            <a:r>
              <a:rPr lang="en-US" altLang="zh-CN" dirty="0" smtClean="0"/>
              <a:t> </a:t>
            </a:r>
            <a:br>
              <a:rPr lang="en-US" altLang="zh-CN" dirty="0" smtClean="0"/>
            </a:br>
            <a:r>
              <a:rPr lang="en-US" altLang="zh-CN" sz="1200" b="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Unsupported Language Features.</a:t>
            </a:r>
            <a:r>
              <a:rPr lang="en-US" altLang="zh-CN" dirty="0" smtClean="0"/>
              <a:t> </a:t>
            </a:r>
            <a:br>
              <a:rPr lang="en-US" altLang="zh-CN" dirty="0" smtClean="0"/>
            </a:br>
            <a:r>
              <a:rPr lang="en-US" altLang="zh-CN" sz="1200" b="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Computing Diﬀs in Isolation</a:t>
            </a:r>
            <a:r>
              <a:rPr lang="en-US" altLang="zh-CN" dirty="0" smtClean="0"/>
              <a:t> </a:t>
            </a:r>
            <a:br>
              <a:rPr lang="en-US" altLang="zh-CN" dirty="0" smtClean="0"/>
            </a:br>
            <a:r>
              <a:rPr lang="en-US" altLang="zh-CN" sz="1200" b="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Insuﬀicient Semantic Information</a:t>
            </a:r>
            <a:r>
              <a:rPr lang="en-US" altLang="zh-CN" dirty="0" smtClean="0"/>
              <a:t> </a:t>
            </a:r>
            <a:br>
              <a:rPr lang="en-US" altLang="zh-CN" dirty="0" smtClean="0"/>
            </a:br>
            <a:endParaRPr lang="en-US" altLang="zh-CN" dirty="0" smtClean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57DDF-2958-4B06-BBB2-5E1DEC7CA669}" type="slidenum">
              <a:rPr lang="zh-CN" altLang="en-US" smtClean="0"/>
              <a:t>37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58332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947714-66FC-4CB8-89F8-9FC375975CD4}" type="datetimeFigureOut">
              <a:rPr lang="zh-CN" altLang="en-US" smtClean="0"/>
              <a:t>2019/3/31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571A44-57C9-44DB-94F1-B7BD8D7F01C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798413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947714-66FC-4CB8-89F8-9FC375975CD4}" type="datetimeFigureOut">
              <a:rPr lang="zh-CN" altLang="en-US" smtClean="0"/>
              <a:t>2019/3/31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571A44-57C9-44DB-94F1-B7BD8D7F01C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88376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947714-66FC-4CB8-89F8-9FC375975CD4}" type="datetimeFigureOut">
              <a:rPr lang="zh-CN" altLang="en-US" smtClean="0"/>
              <a:t>2019/3/31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571A44-57C9-44DB-94F1-B7BD8D7F01C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28486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947714-66FC-4CB8-89F8-9FC375975CD4}" type="datetimeFigureOut">
              <a:rPr lang="zh-CN" altLang="en-US" smtClean="0"/>
              <a:t>2019/3/31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571A44-57C9-44DB-94F1-B7BD8D7F01C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2052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947714-66FC-4CB8-89F8-9FC375975CD4}" type="datetimeFigureOut">
              <a:rPr lang="zh-CN" altLang="en-US" smtClean="0"/>
              <a:t>2019/3/31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571A44-57C9-44DB-94F1-B7BD8D7F01C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8758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947714-66FC-4CB8-89F8-9FC375975CD4}" type="datetimeFigureOut">
              <a:rPr lang="zh-CN" altLang="en-US" smtClean="0"/>
              <a:t>2019/3/31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571A44-57C9-44DB-94F1-B7BD8D7F01C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72228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947714-66FC-4CB8-89F8-9FC375975CD4}" type="datetimeFigureOut">
              <a:rPr lang="zh-CN" altLang="en-US" smtClean="0"/>
              <a:t>2019/3/31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571A44-57C9-44DB-94F1-B7BD8D7F01C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920018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947714-66FC-4CB8-89F8-9FC375975CD4}" type="datetimeFigureOut">
              <a:rPr lang="zh-CN" altLang="en-US" smtClean="0"/>
              <a:t>2019/3/31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571A44-57C9-44DB-94F1-B7BD8D7F01C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25013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947714-66FC-4CB8-89F8-9FC375975CD4}" type="datetimeFigureOut">
              <a:rPr lang="zh-CN" altLang="en-US" smtClean="0"/>
              <a:t>2019/3/31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571A44-57C9-44DB-94F1-B7BD8D7F01C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167320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947714-66FC-4CB8-89F8-9FC375975CD4}" type="datetimeFigureOut">
              <a:rPr lang="zh-CN" altLang="en-US" smtClean="0"/>
              <a:t>2019/3/31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571A44-57C9-44DB-94F1-B7BD8D7F01C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75753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947714-66FC-4CB8-89F8-9FC375975CD4}" type="datetimeFigureOut">
              <a:rPr lang="zh-CN" altLang="en-US" smtClean="0"/>
              <a:t>2019/3/31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571A44-57C9-44DB-94F1-B7BD8D7F01C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00600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947714-66FC-4CB8-89F8-9FC375975CD4}" type="datetimeFigureOut">
              <a:rPr lang="zh-CN" altLang="en-US" smtClean="0"/>
              <a:t>2019/3/31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571A44-57C9-44DB-94F1-B7BD8D7F01C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955026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Statically Checking Web API Requests in </a:t>
            </a:r>
            <a:r>
              <a:rPr lang="en-US" altLang="zh-CN" dirty="0" smtClean="0"/>
              <a:t>JavaScript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endParaRPr lang="en-US" altLang="zh-CN" dirty="0" smtClean="0"/>
          </a:p>
          <a:p>
            <a:pPr algn="r"/>
            <a:endParaRPr lang="en-US" altLang="zh-CN" dirty="0"/>
          </a:p>
          <a:p>
            <a:pPr algn="r"/>
            <a:r>
              <a:rPr lang="zh-CN" altLang="en-US" dirty="0" smtClean="0"/>
              <a:t>报告人：曹雨露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8554776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INTRODUCTION 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838200" y="1825624"/>
            <a:ext cx="6232451" cy="4474433"/>
          </a:xfrm>
        </p:spPr>
        <p:txBody>
          <a:bodyPr>
            <a:normAutofit/>
          </a:bodyPr>
          <a:lstStyle/>
          <a:p>
            <a:r>
              <a:rPr lang="en-US" altLang="zh-CN" dirty="0" smtClean="0"/>
              <a:t>Request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 smtClean="0"/>
              <a:t>URL </a:t>
            </a:r>
            <a:r>
              <a:rPr lang="en-US" altLang="zh-CN" dirty="0"/>
              <a:t>string, HTTP method, and the corresponding </a:t>
            </a:r>
            <a:r>
              <a:rPr lang="en-US" altLang="zh-CN" dirty="0" smtClean="0"/>
              <a:t>data</a:t>
            </a:r>
            <a:r>
              <a:rPr lang="zh-CN" altLang="en-US" dirty="0" smtClean="0"/>
              <a:t>（</a:t>
            </a:r>
            <a:r>
              <a:rPr lang="en-US" altLang="zh-CN" dirty="0" smtClean="0"/>
              <a:t>payload and query data</a:t>
            </a:r>
            <a:r>
              <a:rPr lang="zh-CN" altLang="en-US" dirty="0" smtClean="0"/>
              <a:t>）</a:t>
            </a:r>
            <a:endParaRPr lang="en-US" altLang="zh-CN" dirty="0" smtClean="0"/>
          </a:p>
          <a:p>
            <a:pPr marL="0" indent="0">
              <a:buNone/>
            </a:pPr>
            <a:r>
              <a:rPr lang="en-US" altLang="zh-CN" dirty="0"/>
              <a:t/>
            </a:r>
            <a:br>
              <a:rPr lang="en-US" altLang="zh-CN" dirty="0"/>
            </a:br>
            <a:r>
              <a:rPr lang="en-US" altLang="zh-CN" dirty="0"/>
              <a:t>The work is to check whether the request conforms to publicly available web API specifications </a:t>
            </a:r>
          </a:p>
          <a:p>
            <a:pPr marL="0" indent="0">
              <a:buNone/>
            </a:pPr>
            <a:endParaRPr lang="zh-CN" altLang="en-US" dirty="0"/>
          </a:p>
        </p:txBody>
      </p:sp>
      <p:pic>
        <p:nvPicPr>
          <p:cNvPr id="8" name="内容占位符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9161" y="1629142"/>
            <a:ext cx="4152900" cy="4670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83386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Overview</a:t>
            </a:r>
            <a:endParaRPr lang="zh-CN" altLang="en-US" dirty="0"/>
          </a:p>
        </p:txBody>
      </p:sp>
      <p:sp>
        <p:nvSpPr>
          <p:cNvPr id="5" name="文本框 4"/>
          <p:cNvSpPr txBox="1"/>
          <p:nvPr/>
        </p:nvSpPr>
        <p:spPr>
          <a:xfrm>
            <a:off x="838200" y="1855177"/>
            <a:ext cx="609893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Our approach employs an </a:t>
            </a:r>
            <a:r>
              <a:rPr lang="en-US" altLang="zh-CN" dirty="0" smtClean="0"/>
              <a:t>inter-procedural </a:t>
            </a:r>
            <a:r>
              <a:rPr lang="en-US" altLang="zh-CN" dirty="0"/>
              <a:t>static analysis to extract URL and input </a:t>
            </a:r>
            <a:r>
              <a:rPr lang="en-US" altLang="zh-CN" dirty="0" smtClean="0"/>
              <a:t>strings from </a:t>
            </a:r>
            <a:r>
              <a:rPr lang="en-US" altLang="zh-CN" dirty="0"/>
              <a:t>a web API request in JavaScript </a:t>
            </a:r>
            <a:r>
              <a:rPr lang="en-US" altLang="zh-CN" dirty="0" smtClean="0"/>
              <a:t>code.</a:t>
            </a:r>
          </a:p>
          <a:p>
            <a:endParaRPr lang="en-US" altLang="zh-CN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The second step of our approach checks whether the</a:t>
            </a:r>
            <a:br>
              <a:rPr lang="en-US" altLang="zh-CN" dirty="0"/>
            </a:br>
            <a:r>
              <a:rPr lang="en-US" altLang="zh-CN" dirty="0"/>
              <a:t>extracted information from the web API </a:t>
            </a:r>
            <a:r>
              <a:rPr lang="en-US" altLang="zh-CN" dirty="0" smtClean="0"/>
              <a:t>requests conforms with </a:t>
            </a:r>
            <a:r>
              <a:rPr lang="en-US" altLang="zh-CN" dirty="0"/>
              <a:t>web API </a:t>
            </a:r>
            <a:r>
              <a:rPr lang="en-US" altLang="zh-CN" dirty="0" smtClean="0"/>
              <a:t>specifications</a:t>
            </a:r>
            <a:r>
              <a:rPr lang="en-US" altLang="zh-CN" dirty="0"/>
              <a:t>.</a:t>
            </a:r>
            <a:r>
              <a:rPr lang="en-US" altLang="zh-CN" dirty="0" smtClean="0"/>
              <a:t> </a:t>
            </a:r>
            <a:r>
              <a:rPr lang="en-US" altLang="zh-CN" dirty="0"/>
              <a:t/>
            </a:r>
            <a:br>
              <a:rPr lang="en-US" altLang="zh-CN" dirty="0"/>
            </a:br>
            <a:endParaRPr lang="zh-CN" altLang="en-US" dirty="0"/>
          </a:p>
        </p:txBody>
      </p:sp>
      <p:pic>
        <p:nvPicPr>
          <p:cNvPr id="8" name="内容占位符 7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624481" y="1046285"/>
            <a:ext cx="3939979" cy="4995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7919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838200" y="2347545"/>
            <a:ext cx="10515600" cy="3829417"/>
          </a:xfrm>
        </p:spPr>
        <p:txBody>
          <a:bodyPr>
            <a:normAutofit fontScale="92500" lnSpcReduction="20000"/>
          </a:bodyPr>
          <a:lstStyle/>
          <a:p>
            <a:pPr marL="171450" lvl="0" indent="-171450"/>
            <a:r>
              <a:rPr lang="en-US" altLang="zh-CN" dirty="0"/>
              <a:t>Field-based Call Graph Builder</a:t>
            </a:r>
            <a:endParaRPr lang="zh-CN" altLang="zh-CN" dirty="0"/>
          </a:p>
          <a:p>
            <a:pPr marL="0" indent="0">
              <a:buNone/>
            </a:pPr>
            <a:r>
              <a:rPr lang="en-US" altLang="zh-CN" dirty="0"/>
              <a:t>   In our implementation, we used the field-based call graph construction available in WALA .We take all functions in the script as entry points for the call graph</a:t>
            </a:r>
            <a:endParaRPr lang="zh-CN" altLang="zh-CN" dirty="0"/>
          </a:p>
          <a:p>
            <a:pPr marL="171450" lvl="0" indent="-171450"/>
            <a:r>
              <a:rPr lang="en-US" altLang="zh-CN" dirty="0"/>
              <a:t>Web Request Locator</a:t>
            </a:r>
            <a:endParaRPr lang="zh-CN" altLang="zh-CN" dirty="0"/>
          </a:p>
          <a:p>
            <a:pPr marL="0" indent="0">
              <a:buNone/>
            </a:pPr>
            <a:r>
              <a:rPr lang="en-US" altLang="zh-CN" dirty="0"/>
              <a:t>   To identify API invocations, we look for framework-specific patterns in the call graph. For jQuery, we handle the most common patterns, i.e., function calls to $.ajax, $.get, and $.post</a:t>
            </a:r>
            <a:r>
              <a:rPr lang="zh-CN" altLang="zh-CN" dirty="0"/>
              <a:t>。</a:t>
            </a:r>
          </a:p>
          <a:p>
            <a:pPr marL="171450" lvl="0" indent="-171450"/>
            <a:r>
              <a:rPr lang="en-US" altLang="zh-CN" dirty="0"/>
              <a:t>Backward Slicer for Request Marshaling</a:t>
            </a:r>
            <a:endParaRPr lang="zh-CN" altLang="zh-CN" dirty="0"/>
          </a:p>
          <a:p>
            <a:pPr marL="0" indent="0">
              <a:buNone/>
            </a:pPr>
            <a:r>
              <a:rPr lang="en-US" altLang="zh-CN" dirty="0"/>
              <a:t>   Using WALA backward slicer, we recover all possible data flows that lead to the request.</a:t>
            </a:r>
          </a:p>
          <a:p>
            <a:pPr marL="0" indent="0">
              <a:buNone/>
            </a:pPr>
            <a:endParaRPr lang="zh-CN" altLang="zh-CN" dirty="0"/>
          </a:p>
          <a:p>
            <a:endParaRPr lang="zh-CN" altLang="en-US" dirty="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4726" y="411651"/>
            <a:ext cx="4542857" cy="2095238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712177" y="677008"/>
            <a:ext cx="46862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WEB API USAGE EXTRACTION 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7398420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Perform path-insensitive data flow analysis</a:t>
            </a:r>
            <a:r>
              <a:rPr lang="en-US" altLang="zh-CN" dirty="0" smtClean="0"/>
              <a:t>.</a:t>
            </a:r>
            <a:endParaRPr lang="en-US" altLang="zh-CN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4288" y="2427410"/>
            <a:ext cx="4676775" cy="3638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461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CHECKING PROCEDURE 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08590" y="1783094"/>
            <a:ext cx="6424246" cy="4707061"/>
          </a:xfrm>
        </p:spPr>
        <p:txBody>
          <a:bodyPr>
            <a:normAutofit/>
          </a:bodyPr>
          <a:lstStyle/>
          <a:p>
            <a:pPr lvl="0"/>
            <a:r>
              <a:rPr lang="en-US" altLang="zh-CN" dirty="0" smtClean="0"/>
              <a:t>Checking endpoints</a:t>
            </a:r>
            <a:endParaRPr lang="en-US" altLang="zh-CN" dirty="0"/>
          </a:p>
          <a:p>
            <a:pPr marL="457200" lvl="1" indent="0">
              <a:buNone/>
            </a:pPr>
            <a:r>
              <a:rPr lang="en-US" altLang="zh-CN" dirty="0" smtClean="0"/>
              <a:t>whether </a:t>
            </a:r>
            <a:r>
              <a:rPr lang="en-US" altLang="zh-CN" dirty="0"/>
              <a:t>any of the URLs for a given request begins with any of the base URLs of the known API specifications </a:t>
            </a:r>
            <a:endParaRPr lang="zh-CN" altLang="zh-CN" dirty="0"/>
          </a:p>
          <a:p>
            <a:pPr marL="457200" lvl="1" indent="0">
              <a:buNone/>
            </a:pPr>
            <a:r>
              <a:rPr lang="en-US" altLang="zh-CN" dirty="0"/>
              <a:t>Path</a:t>
            </a:r>
            <a:endParaRPr lang="zh-CN" altLang="zh-CN" dirty="0"/>
          </a:p>
          <a:p>
            <a:pPr marL="457200" lvl="1" indent="0">
              <a:buNone/>
            </a:pPr>
            <a:r>
              <a:rPr lang="en-US" altLang="zh-CN" dirty="0"/>
              <a:t>the procedure attempts to match a request’s URLs to paths defined in the API </a:t>
            </a:r>
            <a:r>
              <a:rPr lang="en-US" altLang="zh-CN" dirty="0" smtClean="0"/>
              <a:t>specifications</a:t>
            </a:r>
          </a:p>
          <a:p>
            <a:pPr marL="457200" lvl="1" indent="0">
              <a:buNone/>
            </a:pPr>
            <a:r>
              <a:rPr lang="en-US" altLang="zh-CN" dirty="0" smtClean="0"/>
              <a:t>Any </a:t>
            </a:r>
            <a:r>
              <a:rPr lang="en-US" altLang="zh-CN" dirty="0"/>
              <a:t>method determined by the static analysis is checked against all methods defined in all matched specifications and all matched </a:t>
            </a:r>
            <a:r>
              <a:rPr lang="en-US" altLang="zh-CN" dirty="0" err="1" smtClean="0"/>
              <a:t>pathswhat</a:t>
            </a:r>
            <a:r>
              <a:rPr lang="en-US" altLang="zh-CN" dirty="0" smtClean="0"/>
              <a:t> </a:t>
            </a:r>
            <a:r>
              <a:rPr lang="en-US" altLang="zh-CN" dirty="0" err="1" smtClean="0"/>
              <a:t>wa</a:t>
            </a:r>
            <a:endParaRPr lang="zh-CN" altLang="zh-CN" dirty="0"/>
          </a:p>
          <a:p>
            <a:pPr marL="0" indent="0">
              <a:buNone/>
            </a:pP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0369" y="1887171"/>
            <a:ext cx="4676775" cy="3638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612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33754" y="1078279"/>
            <a:ext cx="7347438" cy="4777398"/>
          </a:xfrm>
        </p:spPr>
        <p:txBody>
          <a:bodyPr>
            <a:normAutofit fontScale="92500"/>
          </a:bodyPr>
          <a:lstStyle/>
          <a:p>
            <a:pPr marL="342900" lvl="1" indent="-342900">
              <a:spcBef>
                <a:spcPts val="1000"/>
              </a:spcBef>
            </a:pPr>
            <a:r>
              <a:rPr lang="en-US" altLang="zh-CN" dirty="0"/>
              <a:t>Checking request data</a:t>
            </a:r>
            <a:endParaRPr lang="en-US" altLang="zh-CN" dirty="0" smtClean="0"/>
          </a:p>
          <a:p>
            <a:pPr marL="800100" lvl="2" indent="-342900">
              <a:spcBef>
                <a:spcPts val="1000"/>
              </a:spcBef>
            </a:pPr>
            <a:r>
              <a:rPr lang="en-US" altLang="zh-CN" dirty="0" smtClean="0"/>
              <a:t>Payload </a:t>
            </a:r>
            <a:r>
              <a:rPr lang="en-US" altLang="zh-CN" dirty="0"/>
              <a:t>data</a:t>
            </a:r>
            <a:endParaRPr lang="zh-CN" altLang="zh-CN" dirty="0"/>
          </a:p>
          <a:p>
            <a:pPr marL="457200" lvl="2" indent="0">
              <a:spcBef>
                <a:spcPts val="1000"/>
              </a:spcBef>
              <a:buNone/>
            </a:pPr>
            <a:r>
              <a:rPr lang="en-US" altLang="zh-CN" dirty="0" smtClean="0"/>
              <a:t>If any </a:t>
            </a:r>
            <a:r>
              <a:rPr lang="en-US" altLang="zh-CN" dirty="0"/>
              <a:t>of the matched specifications defines a payload schema</a:t>
            </a:r>
            <a:br>
              <a:rPr lang="en-US" altLang="zh-CN" dirty="0"/>
            </a:br>
            <a:r>
              <a:rPr lang="en-US" altLang="zh-CN" dirty="0"/>
              <a:t>in any of the matched endpoints, the procedures determines if</a:t>
            </a:r>
            <a:br>
              <a:rPr lang="en-US" altLang="zh-CN" dirty="0"/>
            </a:br>
            <a:r>
              <a:rPr lang="en-US" altLang="zh-CN" dirty="0"/>
              <a:t>the payload data reported in the request information adheres</a:t>
            </a:r>
            <a:br>
              <a:rPr lang="en-US" altLang="zh-CN" dirty="0"/>
            </a:br>
            <a:r>
              <a:rPr lang="en-US" altLang="zh-CN" dirty="0"/>
              <a:t>to that schema or not </a:t>
            </a:r>
            <a:endParaRPr lang="en-US" altLang="zh-CN" dirty="0" smtClean="0"/>
          </a:p>
          <a:p>
            <a:pPr marL="800100" lvl="2" indent="-342900">
              <a:spcBef>
                <a:spcPts val="1000"/>
              </a:spcBef>
            </a:pPr>
            <a:r>
              <a:rPr lang="en-US" altLang="zh-CN" dirty="0" smtClean="0"/>
              <a:t>Query data</a:t>
            </a:r>
            <a:endParaRPr lang="en-US" altLang="zh-CN" dirty="0"/>
          </a:p>
          <a:p>
            <a:pPr marL="457200" lvl="1" indent="0">
              <a:buNone/>
            </a:pPr>
            <a:r>
              <a:rPr lang="en-US" altLang="zh-CN" dirty="0" smtClean="0"/>
              <a:t>To </a:t>
            </a:r>
            <a:r>
              <a:rPr lang="en-US" altLang="zh-CN" dirty="0"/>
              <a:t>check the query </a:t>
            </a:r>
            <a:r>
              <a:rPr lang="en-US" altLang="zh-CN" dirty="0" smtClean="0"/>
              <a:t>parameters, the </a:t>
            </a:r>
            <a:r>
              <a:rPr lang="en-US" altLang="zh-CN" dirty="0"/>
              <a:t>procedure parses the query strings of all URLs reported </a:t>
            </a:r>
            <a:r>
              <a:rPr lang="en-US" altLang="zh-CN" dirty="0" smtClean="0"/>
              <a:t>for a </a:t>
            </a:r>
            <a:r>
              <a:rPr lang="en-US" altLang="zh-CN" dirty="0"/>
              <a:t>request. It then checks whether any of the found parameter</a:t>
            </a:r>
            <a:br>
              <a:rPr lang="en-US" altLang="zh-CN" dirty="0"/>
            </a:br>
            <a:r>
              <a:rPr lang="en-US" altLang="zh-CN" dirty="0"/>
              <a:t>sets matches the parameter definitions found in any of </a:t>
            </a:r>
            <a:r>
              <a:rPr lang="en-US" altLang="zh-CN" dirty="0" smtClean="0"/>
              <a:t>the endpoint </a:t>
            </a:r>
            <a:r>
              <a:rPr lang="en-US" altLang="zh-CN" dirty="0"/>
              <a:t>definitions matched for the request </a:t>
            </a:r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034543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Evaluation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b="1" dirty="0"/>
              <a:t>RQ1</a:t>
            </a:r>
            <a:r>
              <a:rPr lang="en-US" altLang="zh-CN" dirty="0"/>
              <a:t>: Given JavaScript code describing a web API request, to what degree can the analysis correctly </a:t>
            </a:r>
            <a:r>
              <a:rPr lang="en-US" altLang="zh-CN" dirty="0" smtClean="0"/>
              <a:t>determine whether </a:t>
            </a:r>
            <a:r>
              <a:rPr lang="en-US" altLang="zh-CN" dirty="0"/>
              <a:t>the request is consistent with an endpoint </a:t>
            </a:r>
            <a:r>
              <a:rPr lang="en-US" altLang="zh-CN" dirty="0" smtClean="0"/>
              <a:t>in given </a:t>
            </a:r>
            <a:r>
              <a:rPr lang="en-US" altLang="zh-CN" dirty="0"/>
              <a:t>Swagger specifications? </a:t>
            </a:r>
            <a:endParaRPr lang="en-US" altLang="zh-CN" dirty="0" smtClean="0"/>
          </a:p>
          <a:p>
            <a:r>
              <a:rPr lang="en-US" altLang="zh-CN" b="1" dirty="0" smtClean="0"/>
              <a:t>RQ2</a:t>
            </a:r>
            <a:r>
              <a:rPr lang="en-US" altLang="zh-CN" dirty="0"/>
              <a:t>: For a request consistent with an endpoint in </a:t>
            </a:r>
            <a:r>
              <a:rPr lang="en-US" altLang="zh-CN" dirty="0" smtClean="0"/>
              <a:t>the Swagger </a:t>
            </a:r>
            <a:r>
              <a:rPr lang="en-US" altLang="zh-CN" dirty="0"/>
              <a:t>specifications, to what degree can the </a:t>
            </a:r>
            <a:r>
              <a:rPr lang="en-US" altLang="zh-CN" dirty="0" smtClean="0"/>
              <a:t>analysis correctly </a:t>
            </a:r>
            <a:r>
              <a:rPr lang="en-US" altLang="zh-CN" dirty="0"/>
              <a:t>determine whether the request data (the </a:t>
            </a:r>
            <a:r>
              <a:rPr lang="en-US" altLang="zh-CN" dirty="0" smtClean="0"/>
              <a:t>payload and </a:t>
            </a:r>
            <a:r>
              <a:rPr lang="en-US" altLang="zh-CN" dirty="0"/>
              <a:t>the query parameters) is consistent with specifications? </a:t>
            </a:r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0287454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Data Collection 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CN" dirty="0"/>
              <a:t>API specifications from APIs </a:t>
            </a:r>
            <a:r>
              <a:rPr lang="en-US" altLang="zh-CN" dirty="0" smtClean="0"/>
              <a:t>Guru</a:t>
            </a:r>
          </a:p>
          <a:p>
            <a:pPr marL="0" indent="0">
              <a:buNone/>
            </a:pPr>
            <a:r>
              <a:rPr lang="en-US" altLang="zh-CN" dirty="0"/>
              <a:t>These specifications act as a source of </a:t>
            </a:r>
            <a:r>
              <a:rPr lang="en-US" altLang="zh-CN" dirty="0">
                <a:solidFill>
                  <a:srgbClr val="FF0000"/>
                </a:solidFill>
              </a:rPr>
              <a:t>ground truth </a:t>
            </a:r>
            <a:r>
              <a:rPr lang="en-US" altLang="zh-CN" dirty="0"/>
              <a:t>to </a:t>
            </a:r>
            <a:r>
              <a:rPr lang="en-US" altLang="zh-CN" dirty="0" smtClean="0"/>
              <a:t>indicate whether requests </a:t>
            </a:r>
            <a:r>
              <a:rPr lang="en-US" altLang="zh-CN" dirty="0"/>
              <a:t>in the source code invoke the API </a:t>
            </a:r>
            <a:r>
              <a:rPr lang="en-US" altLang="zh-CN" dirty="0" smtClean="0"/>
              <a:t>correctly</a:t>
            </a:r>
            <a:r>
              <a:rPr lang="en-US" altLang="zh-CN" dirty="0"/>
              <a:t>.</a:t>
            </a:r>
            <a:r>
              <a:rPr lang="en-US" altLang="zh-CN" dirty="0" smtClean="0"/>
              <a:t> </a:t>
            </a:r>
          </a:p>
          <a:p>
            <a:r>
              <a:rPr lang="en-US" altLang="zh-CN" dirty="0"/>
              <a:t>JavaScript files from </a:t>
            </a:r>
            <a:r>
              <a:rPr lang="en-US" altLang="zh-CN" dirty="0" smtClean="0"/>
              <a:t>GitHub</a:t>
            </a:r>
          </a:p>
          <a:p>
            <a:pPr marL="0" indent="0">
              <a:buNone/>
            </a:pPr>
            <a:r>
              <a:rPr lang="en-US" altLang="zh-CN" dirty="0"/>
              <a:t>From these queries, </a:t>
            </a:r>
            <a:r>
              <a:rPr lang="en-US" altLang="zh-CN" dirty="0" smtClean="0"/>
              <a:t>we obtained </a:t>
            </a:r>
            <a:r>
              <a:rPr lang="en-US" altLang="zh-CN" dirty="0"/>
              <a:t>6746 JavaScript files, from which we extracted </a:t>
            </a:r>
            <a:r>
              <a:rPr lang="en-US" altLang="zh-CN" dirty="0" smtClean="0"/>
              <a:t>19668 web </a:t>
            </a:r>
            <a:r>
              <a:rPr lang="en-US" altLang="zh-CN" dirty="0"/>
              <a:t>API requests.</a:t>
            </a:r>
            <a:br>
              <a:rPr lang="en-US" altLang="zh-CN" dirty="0"/>
            </a:br>
            <a:r>
              <a:rPr lang="en-US" altLang="zh-CN" dirty="0"/>
              <a:t>For this evaluation, we focused on the 6575 requests that</a:t>
            </a:r>
            <a:br>
              <a:rPr lang="en-US" altLang="zh-CN" dirty="0"/>
            </a:br>
            <a:r>
              <a:rPr lang="en-US" altLang="zh-CN" dirty="0"/>
              <a:t>matched a specification (i.e., a request URL matching the</a:t>
            </a:r>
            <a:br>
              <a:rPr lang="en-US" altLang="zh-CN" dirty="0"/>
            </a:br>
            <a:r>
              <a:rPr lang="en-US" altLang="zh-CN" dirty="0"/>
              <a:t>base URL of a specification, including matching the schemes,</a:t>
            </a:r>
            <a:br>
              <a:rPr lang="en-US" altLang="zh-CN" dirty="0"/>
            </a:br>
            <a:r>
              <a:rPr lang="en-US" altLang="zh-CN" dirty="0"/>
              <a:t>domain, and the </a:t>
            </a:r>
            <a:r>
              <a:rPr lang="en-US" altLang="zh-CN" dirty="0" err="1"/>
              <a:t>basepath</a:t>
            </a:r>
            <a:r>
              <a:rPr lang="en-US" altLang="zh-CN" dirty="0"/>
              <a:t>) </a:t>
            </a:r>
            <a:r>
              <a:rPr lang="en-US" altLang="zh-CN" dirty="0" smtClean="0"/>
              <a:t>.</a:t>
            </a:r>
            <a:r>
              <a:rPr lang="en-US" altLang="zh-CN" dirty="0"/>
              <a:t/>
            </a:r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717834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Endpoint Results 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690688"/>
            <a:ext cx="6169269" cy="4222506"/>
          </a:xfrm>
        </p:spPr>
        <p:txBody>
          <a:bodyPr/>
          <a:lstStyle/>
          <a:p>
            <a:pPr marL="0" indent="0">
              <a:buNone/>
            </a:pPr>
            <a:r>
              <a:rPr lang="en-US" altLang="zh-CN" dirty="0" smtClean="0"/>
              <a:t>Method</a:t>
            </a:r>
            <a:r>
              <a:rPr lang="zh-CN" altLang="en-US" dirty="0" smtClean="0"/>
              <a:t>：</a:t>
            </a:r>
            <a:r>
              <a:rPr lang="en-US" altLang="zh-CN" dirty="0" smtClean="0"/>
              <a:t>a </a:t>
            </a:r>
            <a:r>
              <a:rPr lang="en-US" altLang="zh-CN" dirty="0"/>
              <a:t>request is </a:t>
            </a:r>
            <a:r>
              <a:rPr lang="en-US" altLang="zh-CN" dirty="0" smtClean="0"/>
              <a:t>a valid </a:t>
            </a:r>
            <a:r>
              <a:rPr lang="en-US" altLang="zh-CN" dirty="0"/>
              <a:t>endpoint when it satisfies two conditions: (1) the </a:t>
            </a:r>
            <a:r>
              <a:rPr lang="en-US" altLang="zh-CN" dirty="0" smtClean="0"/>
              <a:t>URL matches </a:t>
            </a:r>
            <a:r>
              <a:rPr lang="en-US" altLang="zh-CN" dirty="0"/>
              <a:t>an endpoint path, which can contain </a:t>
            </a:r>
            <a:r>
              <a:rPr lang="en-US" altLang="zh-CN" dirty="0" smtClean="0"/>
              <a:t>path variables(e.g</a:t>
            </a:r>
            <a:r>
              <a:rPr lang="en-US" altLang="zh-CN" dirty="0"/>
              <a:t>., /repos/</a:t>
            </a:r>
            <a:r>
              <a:rPr lang="en-US" altLang="zh-CN" i="1" dirty="0"/>
              <a:t>{</a:t>
            </a:r>
            <a:r>
              <a:rPr lang="en-US" altLang="zh-CN" dirty="0"/>
              <a:t>owner</a:t>
            </a:r>
            <a:r>
              <a:rPr lang="en-US" altLang="zh-CN" i="1" dirty="0"/>
              <a:t>}</a:t>
            </a:r>
            <a:r>
              <a:rPr lang="en-US" altLang="zh-CN" dirty="0"/>
              <a:t>/</a:t>
            </a:r>
            <a:r>
              <a:rPr lang="en-US" altLang="zh-CN" i="1" dirty="0"/>
              <a:t>{</a:t>
            </a:r>
            <a:r>
              <a:rPr lang="en-US" altLang="zh-CN" dirty="0"/>
              <a:t>repo</a:t>
            </a:r>
            <a:r>
              <a:rPr lang="en-US" altLang="zh-CN" i="1" dirty="0"/>
              <a:t>}</a:t>
            </a:r>
            <a:r>
              <a:rPr lang="en-US" altLang="zh-CN" dirty="0"/>
              <a:t>) and (2) the HTTP </a:t>
            </a:r>
            <a:r>
              <a:rPr lang="en-US" altLang="zh-CN" dirty="0" smtClean="0"/>
              <a:t>method matches </a:t>
            </a:r>
            <a:r>
              <a:rPr lang="en-US" altLang="zh-CN" dirty="0"/>
              <a:t>(e.g., GET). </a:t>
            </a:r>
            <a:br>
              <a:rPr lang="en-US" altLang="zh-CN" dirty="0"/>
            </a:br>
            <a:endParaRPr lang="en-US" altLang="zh-CN" dirty="0" smtClean="0"/>
          </a:p>
          <a:p>
            <a:pPr marL="0" indent="0">
              <a:buNone/>
            </a:pPr>
            <a:r>
              <a:rPr lang="en-US" altLang="zh-CN" dirty="0" smtClean="0"/>
              <a:t>96</a:t>
            </a:r>
            <a:r>
              <a:rPr lang="en-US" altLang="zh-CN" i="1" dirty="0" smtClean="0"/>
              <a:t>.</a:t>
            </a:r>
            <a:r>
              <a:rPr lang="en-US" altLang="zh-CN" dirty="0" smtClean="0"/>
              <a:t>0</a:t>
            </a:r>
            <a:r>
              <a:rPr lang="en-US" altLang="zh-CN" dirty="0"/>
              <a:t>% for endpoint checking </a:t>
            </a:r>
            <a:br>
              <a:rPr lang="en-US" altLang="zh-CN" dirty="0"/>
            </a:b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7469" y="1690688"/>
            <a:ext cx="4772025" cy="3724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06287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5796516" cy="4638970"/>
          </a:xfrm>
        </p:spPr>
        <p:txBody>
          <a:bodyPr>
            <a:normAutofit fontScale="77500" lnSpcReduction="20000"/>
          </a:bodyPr>
          <a:lstStyle/>
          <a:p>
            <a:r>
              <a:rPr lang="en-US" altLang="zh-CN" dirty="0"/>
              <a:t>True Negatives </a:t>
            </a:r>
            <a:endParaRPr lang="en-US" altLang="zh-CN" dirty="0" smtClean="0"/>
          </a:p>
          <a:p>
            <a:pPr lvl="1"/>
            <a:r>
              <a:rPr lang="en-US" altLang="zh-CN" dirty="0"/>
              <a:t>definite or potential errors in the code </a:t>
            </a:r>
            <a:endParaRPr lang="en-US" altLang="zh-CN" dirty="0" smtClean="0"/>
          </a:p>
          <a:p>
            <a:pPr marL="914400" lvl="2" indent="0">
              <a:buNone/>
            </a:pPr>
            <a:r>
              <a:rPr lang="en-US" altLang="zh-CN" dirty="0"/>
              <a:t>Deprecated APIs </a:t>
            </a:r>
            <a:br>
              <a:rPr lang="en-US" altLang="zh-CN" dirty="0"/>
            </a:br>
            <a:r>
              <a:rPr lang="en-US" altLang="zh-CN" dirty="0"/>
              <a:t>Documented Programming Errors </a:t>
            </a:r>
            <a:br>
              <a:rPr lang="en-US" altLang="zh-CN" dirty="0"/>
            </a:br>
            <a:r>
              <a:rPr lang="en-US" altLang="zh-CN" dirty="0"/>
              <a:t>Typographical </a:t>
            </a:r>
            <a:r>
              <a:rPr lang="en-US" altLang="zh-CN" dirty="0" smtClean="0"/>
              <a:t>errors</a:t>
            </a:r>
          </a:p>
          <a:p>
            <a:pPr lvl="1"/>
            <a:r>
              <a:rPr lang="en-US" altLang="zh-CN" dirty="0" smtClean="0"/>
              <a:t>Erroneous and </a:t>
            </a:r>
            <a:r>
              <a:rPr lang="en-US" altLang="zh-CN" dirty="0"/>
              <a:t>incomplete Swagger specification </a:t>
            </a:r>
            <a:r>
              <a:rPr lang="en-US" altLang="zh-CN" dirty="0" smtClean="0"/>
              <a:t> </a:t>
            </a:r>
          </a:p>
          <a:p>
            <a:pPr marL="914400" lvl="2" indent="0">
              <a:buNone/>
            </a:pPr>
            <a:r>
              <a:rPr lang="en-US" altLang="zh-CN" dirty="0" smtClean="0"/>
              <a:t>Errors </a:t>
            </a:r>
            <a:r>
              <a:rPr lang="en-US" altLang="zh-CN" dirty="0"/>
              <a:t>in Swagger specifications </a:t>
            </a:r>
            <a:br>
              <a:rPr lang="en-US" altLang="zh-CN" dirty="0"/>
            </a:br>
            <a:r>
              <a:rPr lang="en-US" altLang="zh-CN" dirty="0"/>
              <a:t>Missing endpoints in Swagger specifications </a:t>
            </a:r>
            <a:br>
              <a:rPr lang="en-US" altLang="zh-CN" dirty="0"/>
            </a:br>
            <a:r>
              <a:rPr lang="en-US" altLang="zh-CN" dirty="0"/>
              <a:t>Missing authorization URLs in Swagger specifications </a:t>
            </a:r>
          </a:p>
          <a:p>
            <a:r>
              <a:rPr lang="en-US" altLang="zh-CN" dirty="0" smtClean="0"/>
              <a:t>False Positives</a:t>
            </a:r>
          </a:p>
          <a:p>
            <a:pPr lvl="1"/>
            <a:r>
              <a:rPr lang="en-US" altLang="zh-CN" dirty="0" smtClean="0"/>
              <a:t>Static analysis</a:t>
            </a:r>
          </a:p>
          <a:p>
            <a:pPr marL="914400" lvl="2" indent="0">
              <a:buNone/>
            </a:pPr>
            <a:r>
              <a:rPr lang="en-US" altLang="zh-CN" dirty="0"/>
              <a:t>Limitation of the analysis scope </a:t>
            </a:r>
            <a:br>
              <a:rPr lang="en-US" altLang="zh-CN" dirty="0"/>
            </a:br>
            <a:r>
              <a:rPr lang="en-US" altLang="zh-CN" dirty="0"/>
              <a:t>Handling string library functions</a:t>
            </a:r>
            <a:endParaRPr lang="en-US" altLang="zh-CN" dirty="0" smtClean="0"/>
          </a:p>
          <a:p>
            <a:pPr lvl="1"/>
            <a:r>
              <a:rPr lang="en-US" altLang="zh-CN" dirty="0" smtClean="0"/>
              <a:t>Checking procedure</a:t>
            </a:r>
          </a:p>
          <a:p>
            <a:pPr marL="914400" lvl="2" indent="0">
              <a:buNone/>
            </a:pPr>
            <a:r>
              <a:rPr lang="en-US" altLang="zh-CN" dirty="0"/>
              <a:t>Conservative Matching </a:t>
            </a:r>
            <a:br>
              <a:rPr lang="en-US" altLang="zh-CN" dirty="0"/>
            </a:br>
            <a:r>
              <a:rPr lang="en-US" altLang="zh-CN" dirty="0"/>
              <a:t>Missing authorization URLs </a:t>
            </a:r>
            <a:br>
              <a:rPr lang="en-US" altLang="zh-CN" dirty="0"/>
            </a:br>
            <a:r>
              <a:rPr lang="en-US" altLang="zh-CN" dirty="0"/>
              <a:t/>
            </a:r>
            <a:br>
              <a:rPr lang="en-US" altLang="zh-CN" dirty="0"/>
            </a:b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5451" y="1825625"/>
            <a:ext cx="4772025" cy="3724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3225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Payload Data Results 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dirty="0" smtClean="0"/>
              <a:t>Method</a:t>
            </a:r>
            <a:r>
              <a:rPr lang="zh-CN" altLang="en-US" dirty="0" smtClean="0"/>
              <a:t>：</a:t>
            </a:r>
            <a:endParaRPr lang="en-US" altLang="zh-CN" dirty="0"/>
          </a:p>
          <a:p>
            <a:pPr marL="0" indent="0">
              <a:buNone/>
            </a:pPr>
            <a:endParaRPr lang="en-US" altLang="zh-CN" dirty="0" smtClean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en-US" altLang="zh-CN" dirty="0" smtClean="0"/>
              <a:t>87</a:t>
            </a:r>
            <a:r>
              <a:rPr lang="en-US" altLang="zh-CN" i="1" dirty="0" smtClean="0"/>
              <a:t>.</a:t>
            </a:r>
            <a:r>
              <a:rPr lang="en-US" altLang="zh-CN" dirty="0" smtClean="0"/>
              <a:t>9</a:t>
            </a:r>
            <a:r>
              <a:rPr lang="en-US" altLang="zh-CN" dirty="0"/>
              <a:t>% for payload </a:t>
            </a:r>
            <a:r>
              <a:rPr lang="en-US" altLang="zh-CN" dirty="0" smtClean="0"/>
              <a:t>data checking </a:t>
            </a:r>
            <a:endParaRPr lang="en-US" altLang="zh-CN" dirty="0"/>
          </a:p>
          <a:p>
            <a:r>
              <a:rPr lang="en-US" altLang="zh-CN" dirty="0" smtClean="0"/>
              <a:t>True </a:t>
            </a:r>
            <a:r>
              <a:rPr lang="en-US" altLang="zh-CN" dirty="0"/>
              <a:t>Negatives </a:t>
            </a:r>
            <a:endParaRPr lang="en-US" altLang="zh-CN" dirty="0" smtClean="0"/>
          </a:p>
          <a:p>
            <a:r>
              <a:rPr lang="en-US" altLang="zh-CN" dirty="0" smtClean="0"/>
              <a:t>False </a:t>
            </a:r>
            <a:r>
              <a:rPr lang="en-US" altLang="zh-CN" dirty="0"/>
              <a:t>Positives </a:t>
            </a:r>
            <a:br>
              <a:rPr lang="en-US" altLang="zh-CN" dirty="0"/>
            </a:br>
            <a:endParaRPr lang="zh-CN" altLang="en-US" dirty="0"/>
          </a:p>
        </p:txBody>
      </p:sp>
      <p:pic>
        <p:nvPicPr>
          <p:cNvPr id="4" name="内容占位符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675" y="1583588"/>
            <a:ext cx="4800600" cy="4086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24226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Query Parameter Results </a:t>
            </a:r>
            <a:endParaRPr lang="zh-CN" altLang="en-US" dirty="0"/>
          </a:p>
        </p:txBody>
      </p:sp>
      <p:pic>
        <p:nvPicPr>
          <p:cNvPr id="4" name="内容占位符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685085" y="1817504"/>
            <a:ext cx="4800600" cy="4086225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340240" y="2105247"/>
            <a:ext cx="5932969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 smtClean="0"/>
              <a:t>Method </a:t>
            </a:r>
          </a:p>
          <a:p>
            <a:endParaRPr lang="en-US" altLang="zh-CN" sz="2800" dirty="0" smtClean="0"/>
          </a:p>
          <a:p>
            <a:r>
              <a:rPr lang="en-US" altLang="zh-CN" sz="2800" dirty="0" smtClean="0"/>
              <a:t>99</a:t>
            </a:r>
            <a:r>
              <a:rPr lang="en-US" altLang="zh-CN" sz="2800" i="1" dirty="0" smtClean="0"/>
              <a:t>.</a:t>
            </a:r>
            <a:r>
              <a:rPr lang="en-US" altLang="zh-CN" sz="2800" dirty="0" smtClean="0"/>
              <a:t>9</a:t>
            </a:r>
            <a:r>
              <a:rPr lang="en-US" altLang="zh-CN" sz="2800" dirty="0"/>
              <a:t>% for query parameter checking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800" dirty="0" smtClean="0"/>
              <a:t>True </a:t>
            </a:r>
            <a:r>
              <a:rPr lang="en-US" altLang="zh-CN" sz="2800" dirty="0"/>
              <a:t>Negatives </a:t>
            </a:r>
          </a:p>
          <a:p>
            <a:r>
              <a:rPr lang="en-US" altLang="zh-CN" sz="2800" dirty="0" smtClean="0"/>
              <a:t>Errors </a:t>
            </a:r>
            <a:r>
              <a:rPr lang="en-US" altLang="zh-CN" sz="2800" dirty="0"/>
              <a:t>in the </a:t>
            </a:r>
            <a:r>
              <a:rPr lang="en-US" altLang="zh-CN" sz="2800" dirty="0" smtClean="0"/>
              <a:t>specification</a:t>
            </a:r>
          </a:p>
          <a:p>
            <a:r>
              <a:rPr lang="en-US" altLang="zh-CN" sz="2800" dirty="0" smtClean="0"/>
              <a:t>Errors </a:t>
            </a:r>
            <a:r>
              <a:rPr lang="en-US" altLang="zh-CN" sz="2800" dirty="0"/>
              <a:t>in the </a:t>
            </a:r>
            <a:r>
              <a:rPr lang="en-US" altLang="zh-CN" sz="2800" dirty="0" smtClean="0"/>
              <a:t>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800" dirty="0"/>
              <a:t>False Positives </a:t>
            </a:r>
            <a:r>
              <a:rPr lang="en-US" altLang="zh-CN" dirty="0"/>
              <a:t/>
            </a:r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349548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Future work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this approach can be integrated with existing </a:t>
            </a:r>
            <a:r>
              <a:rPr lang="en-US" altLang="zh-CN" dirty="0" smtClean="0"/>
              <a:t>tools that </a:t>
            </a:r>
            <a:r>
              <a:rPr lang="en-US" altLang="zh-CN" dirty="0"/>
              <a:t>support developers in using web </a:t>
            </a:r>
            <a:r>
              <a:rPr lang="en-US" altLang="zh-CN" dirty="0" smtClean="0"/>
              <a:t>APIs</a:t>
            </a:r>
            <a:r>
              <a:rPr lang="en-US" altLang="zh-CN" dirty="0"/>
              <a:t>.</a:t>
            </a:r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023494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27839" y="744279"/>
            <a:ext cx="11431770" cy="3944679"/>
          </a:xfrm>
        </p:spPr>
        <p:txBody>
          <a:bodyPr>
            <a:noAutofit/>
          </a:bodyPr>
          <a:lstStyle/>
          <a:p>
            <a:pPr algn="ctr"/>
            <a:r>
              <a:rPr lang="en-US" altLang="zh-CN" sz="5400" dirty="0"/>
              <a:t>Revamping JavaScript Static Analysis via Localization </a:t>
            </a:r>
            <a:r>
              <a:rPr lang="en-US" altLang="zh-CN" sz="5400" dirty="0" smtClean="0"/>
              <a:t>and Remediation </a:t>
            </a:r>
            <a:r>
              <a:rPr lang="en-US" altLang="zh-CN" sz="5400" dirty="0"/>
              <a:t>of Root Causes of Imprecision</a:t>
            </a:r>
            <a:endParaRPr lang="zh-CN" altLang="en-US" sz="5400" dirty="0"/>
          </a:p>
        </p:txBody>
      </p:sp>
    </p:spTree>
    <p:extLst>
      <p:ext uri="{BB962C8B-B14F-4D97-AF65-F5344CB8AC3E}">
        <p14:creationId xmlns:p14="http://schemas.microsoft.com/office/powerpoint/2010/main" val="37247873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Introduction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A diagnosis algorithm is applied to trace this “</a:t>
            </a:r>
            <a:r>
              <a:rPr lang="en-US" altLang="zh-CN" dirty="0" err="1"/>
              <a:t>bad”behavior</a:t>
            </a:r>
            <a:r>
              <a:rPr lang="en-US" altLang="zh-CN" dirty="0"/>
              <a:t> back to its root causes linked to specific functions. By applying a well-chosen context sensitivity policy to use on these functions during a fresh analysis pass, the anomalous behavior may be </a:t>
            </a:r>
            <a:r>
              <a:rPr lang="en-US" altLang="zh-CN" dirty="0" err="1"/>
              <a:t>circumventable</a:t>
            </a:r>
            <a:r>
              <a:rPr lang="en-US" altLang="zh-CN" dirty="0"/>
              <a:t> .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181689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Motivation</a:t>
            </a:r>
            <a:endParaRPr lang="zh-CN" altLang="en-US" dirty="0"/>
          </a:p>
        </p:txBody>
      </p:sp>
      <p:pic>
        <p:nvPicPr>
          <p:cNvPr id="4" name="内容占位符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943725" y="1027906"/>
            <a:ext cx="4410075" cy="231457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318437" y="2647507"/>
            <a:ext cx="498667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The existence of such “jumps” indicates that the overly-approximated results are frequently</a:t>
            </a:r>
            <a:br>
              <a:rPr lang="en-US" altLang="zh-CN" dirty="0"/>
            </a:br>
            <a:r>
              <a:rPr lang="en-US" altLang="zh-CN" dirty="0"/>
              <a:t>propagated, resulting in significant overall precision </a:t>
            </a:r>
            <a:r>
              <a:rPr lang="en-US" altLang="zh-CN" dirty="0" smtClean="0"/>
              <a:t>loss.</a:t>
            </a:r>
          </a:p>
          <a:p>
            <a:endParaRPr lang="en-US" altLang="zh-CN" dirty="0"/>
          </a:p>
          <a:p>
            <a:r>
              <a:rPr lang="en-US" altLang="zh-CN" dirty="0"/>
              <a:t>These results motivated us to design an automated approach to identify root causes of imprecision via the differences in static analysis behavior  </a:t>
            </a:r>
            <a:br>
              <a:rPr lang="en-US" altLang="zh-CN" dirty="0"/>
            </a:br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3725" y="3546016"/>
            <a:ext cx="4448175" cy="2771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108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Overview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780544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Overview</a:t>
            </a:r>
            <a:endParaRPr lang="zh-CN" altLang="en-US" dirty="0"/>
          </a:p>
        </p:txBody>
      </p:sp>
      <p:pic>
        <p:nvPicPr>
          <p:cNvPr id="4" name="内容占位符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568373" y="637751"/>
            <a:ext cx="4924425" cy="277177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838200" y="3095059"/>
            <a:ext cx="508413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Intuitively, an anomaly is flagged if a given variable or reference property, collectively referred to as a program pointer, is associated with a large points-to </a:t>
            </a:r>
            <a:r>
              <a:rPr lang="en-US" altLang="zh-CN" dirty="0" err="1" smtClean="0"/>
              <a:t>set,and</a:t>
            </a:r>
            <a:r>
              <a:rPr lang="en-US" altLang="zh-CN" dirty="0" smtClean="0"/>
              <a:t> </a:t>
            </a:r>
            <a:r>
              <a:rPr lang="en-US" altLang="zh-CN" dirty="0"/>
              <a:t>the label corresponding to the pointer propagates to many other pointers within a small number of evaluations of the propagation system.</a:t>
            </a:r>
            <a:endParaRPr lang="zh-CN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060819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83018" y="397023"/>
            <a:ext cx="10515600" cy="1325563"/>
          </a:xfrm>
        </p:spPr>
        <p:txBody>
          <a:bodyPr/>
          <a:lstStyle/>
          <a:p>
            <a:r>
              <a:rPr lang="en-US" altLang="zh-CN" dirty="0" smtClean="0"/>
              <a:t>Root-cause location</a:t>
            </a:r>
            <a:endParaRPr lang="zh-CN" altLang="en-US" dirty="0"/>
          </a:p>
        </p:txBody>
      </p:sp>
      <p:pic>
        <p:nvPicPr>
          <p:cNvPr id="4" name="内容占位符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496076" y="1868155"/>
            <a:ext cx="4536313" cy="4351338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223283" y="2238451"/>
            <a:ext cx="6996224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800" dirty="0"/>
              <a:t>Labeled Propagation System </a:t>
            </a:r>
            <a:r>
              <a:rPr lang="en-US" altLang="zh-CN" dirty="0"/>
              <a:t/>
            </a:r>
            <a:br>
              <a:rPr lang="en-US" altLang="zh-CN" dirty="0"/>
            </a:br>
            <a:r>
              <a:rPr lang="en-US" altLang="zh-CN" dirty="0"/>
              <a:t>    </a:t>
            </a:r>
            <a:r>
              <a:rPr lang="en-US" altLang="zh-CN" dirty="0" smtClean="0"/>
              <a:t>predict(k</a:t>
            </a:r>
            <a:r>
              <a:rPr lang="en-US" altLang="zh-CN" dirty="0"/>
              <a:t>) = intercept + slope × kn. </a:t>
            </a:r>
          </a:p>
          <a:p>
            <a:r>
              <a:rPr lang="en-US" altLang="zh-CN" dirty="0" smtClean="0"/>
              <a:t>	If </a:t>
            </a:r>
            <a:r>
              <a:rPr lang="en-US" altLang="zh-CN" dirty="0"/>
              <a:t>actual(k) &gt; threshold × predict(k) </a:t>
            </a:r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126669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 dirty="0"/>
          </a:p>
        </p:txBody>
      </p:sp>
      <p:pic>
        <p:nvPicPr>
          <p:cNvPr id="4" name="内容占位符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772275" y="1972691"/>
            <a:ext cx="4581525" cy="18669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553" y="1890159"/>
            <a:ext cx="4552950" cy="2609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33216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CN" dirty="0"/>
              <a:t>Identifying Root Causes for </a:t>
            </a:r>
            <a:r>
              <a:rPr lang="en-US" altLang="zh-CN" dirty="0" smtClean="0"/>
              <a:t>Divergence</a:t>
            </a:r>
          </a:p>
          <a:p>
            <a:pPr marL="0" indent="0">
              <a:buNone/>
            </a:pPr>
            <a:r>
              <a:rPr lang="en-US" altLang="zh-CN" dirty="0"/>
              <a:t>For </a:t>
            </a:r>
            <a:r>
              <a:rPr lang="en-US" altLang="zh-CN" dirty="0" smtClean="0"/>
              <a:t>each variable </a:t>
            </a:r>
            <a:r>
              <a:rPr lang="en-US" altLang="zh-CN" dirty="0"/>
              <a:t>or reference property v, we count (</a:t>
            </a:r>
            <a:r>
              <a:rPr lang="en-US" altLang="zh-CN" dirty="0" err="1"/>
              <a:t>i</a:t>
            </a:r>
            <a:r>
              <a:rPr lang="en-US" altLang="zh-CN" dirty="0"/>
              <a:t>) its points-to</a:t>
            </a:r>
            <a:br>
              <a:rPr lang="en-US" altLang="zh-CN" dirty="0"/>
            </a:br>
            <a:r>
              <a:rPr lang="en-US" altLang="zh-CN" dirty="0"/>
              <a:t>size, |</a:t>
            </a:r>
            <a:r>
              <a:rPr lang="en-US" altLang="zh-CN" dirty="0" err="1"/>
              <a:t>Pv</a:t>
            </a:r>
            <a:r>
              <a:rPr lang="en-US" altLang="zh-CN" dirty="0"/>
              <a:t>|, as well as (ii) its number of occurrences as labels in the points-to sets of other variables and/or </a:t>
            </a:r>
            <a:r>
              <a:rPr lang="en-US" altLang="zh-CN" dirty="0" smtClean="0"/>
              <a:t>reference properties</a:t>
            </a:r>
            <a:r>
              <a:rPr lang="en-US" altLang="zh-CN" dirty="0"/>
              <a:t>, |</a:t>
            </a:r>
            <a:r>
              <a:rPr lang="en-US" altLang="zh-CN" dirty="0" err="1"/>
              <a:t>Lv</a:t>
            </a:r>
            <a:r>
              <a:rPr lang="en-US" altLang="zh-CN" dirty="0"/>
              <a:t>|. |</a:t>
            </a:r>
            <a:r>
              <a:rPr lang="en-US" altLang="zh-CN" dirty="0" err="1"/>
              <a:t>Lv</a:t>
            </a:r>
            <a:r>
              <a:rPr lang="en-US" altLang="zh-CN" dirty="0"/>
              <a:t>| measures how widely v reaches </a:t>
            </a:r>
            <a:r>
              <a:rPr lang="en-US" altLang="zh-CN" dirty="0" smtClean="0"/>
              <a:t>within the </a:t>
            </a:r>
            <a:r>
              <a:rPr lang="en-US" altLang="zh-CN" dirty="0"/>
              <a:t>propagation system, and |</a:t>
            </a:r>
            <a:r>
              <a:rPr lang="en-US" altLang="zh-CN" dirty="0" err="1"/>
              <a:t>Pv</a:t>
            </a:r>
            <a:r>
              <a:rPr lang="en-US" altLang="zh-CN" dirty="0"/>
              <a:t>| measures if the impact </a:t>
            </a:r>
            <a:r>
              <a:rPr lang="en-US" altLang="zh-CN" dirty="0" smtClean="0"/>
              <a:t>of its </a:t>
            </a:r>
            <a:r>
              <a:rPr lang="en-US" altLang="zh-CN" dirty="0"/>
              <a:t>wide reach is significant. We therefore use the </a:t>
            </a:r>
            <a:r>
              <a:rPr lang="en-US" altLang="zh-CN" dirty="0" smtClean="0"/>
              <a:t>scoring heuristic </a:t>
            </a:r>
            <a:r>
              <a:rPr lang="en-US" altLang="zh-CN" dirty="0" err="1"/>
              <a:t>Sv</a:t>
            </a:r>
            <a:r>
              <a:rPr lang="en-US" altLang="zh-CN" dirty="0"/>
              <a:t>=|</a:t>
            </a:r>
            <a:r>
              <a:rPr lang="en-US" altLang="zh-CN" dirty="0" err="1"/>
              <a:t>Pv</a:t>
            </a:r>
            <a:r>
              <a:rPr lang="en-US" altLang="zh-CN" dirty="0"/>
              <a:t>|×|</a:t>
            </a:r>
            <a:r>
              <a:rPr lang="en-US" altLang="zh-CN" dirty="0" err="1"/>
              <a:t>Lv</a:t>
            </a:r>
            <a:r>
              <a:rPr lang="en-US" altLang="zh-CN" dirty="0"/>
              <a:t>| as a measurement of the </a:t>
            </a:r>
            <a:r>
              <a:rPr lang="en-US" altLang="zh-CN" dirty="0" smtClean="0"/>
              <a:t>possibility of </a:t>
            </a:r>
            <a:r>
              <a:rPr lang="en-US" altLang="zh-CN" dirty="0"/>
              <a:t>v being a root cause (lines 11-13 in Procedure 1). </a:t>
            </a:r>
            <a:br>
              <a:rPr lang="en-US" altLang="zh-CN" dirty="0"/>
            </a:br>
            <a:r>
              <a:rPr lang="en-US" altLang="zh-CN" dirty="0"/>
              <a:t> </a:t>
            </a:r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131720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Improvement Suggestion</a:t>
            </a:r>
            <a:endParaRPr lang="zh-CN" altLang="en-US" dirty="0"/>
          </a:p>
        </p:txBody>
      </p:sp>
      <p:pic>
        <p:nvPicPr>
          <p:cNvPr id="4" name="内容占位符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77493" y="1784295"/>
            <a:ext cx="4695825" cy="3838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02275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Improvement Suggestion</a:t>
            </a:r>
            <a:endParaRPr lang="zh-CN" altLang="en-US" dirty="0"/>
          </a:p>
        </p:txBody>
      </p:sp>
      <p:pic>
        <p:nvPicPr>
          <p:cNvPr id="4" name="内容占位符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282133" y="1591709"/>
            <a:ext cx="4071667" cy="4351338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584791" y="2296632"/>
            <a:ext cx="627320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For a program pointer r that is identified as a root</a:t>
            </a:r>
            <a:br>
              <a:rPr lang="en-US" altLang="zh-CN" dirty="0"/>
            </a:br>
            <a:r>
              <a:rPr lang="en-US" altLang="zh-CN" dirty="0"/>
              <a:t>cause, we locate its corresponding nodes via its program</a:t>
            </a:r>
            <a:br>
              <a:rPr lang="en-US" altLang="zh-CN" dirty="0"/>
            </a:br>
            <a:r>
              <a:rPr lang="en-US" altLang="zh-CN" dirty="0"/>
              <a:t>location in each dynamic points-to graph, and collect (</a:t>
            </a:r>
            <a:r>
              <a:rPr lang="en-US" altLang="zh-CN" dirty="0" err="1"/>
              <a:t>i</a:t>
            </a:r>
            <a:r>
              <a:rPr lang="en-US" altLang="zh-CN" dirty="0"/>
              <a:t>)</a:t>
            </a:r>
            <a:br>
              <a:rPr lang="en-US" altLang="zh-CN" dirty="0"/>
            </a:br>
            <a:r>
              <a:rPr lang="en-US" altLang="zh-CN" dirty="0"/>
              <a:t>the number of calling contexts associated with r, </a:t>
            </a:r>
            <a:r>
              <a:rPr lang="en-US" altLang="zh-CN" dirty="0" err="1"/>
              <a:t>ccr</a:t>
            </a:r>
            <a:r>
              <a:rPr lang="en-US" altLang="zh-CN" dirty="0"/>
              <a:t>, and </a:t>
            </a:r>
            <a:br>
              <a:rPr lang="en-US" altLang="zh-CN" dirty="0"/>
            </a:br>
            <a:r>
              <a:rPr lang="en-US" altLang="zh-CN" dirty="0"/>
              <a:t>(ii) the sum of points-to sizes under all calling contexts,</a:t>
            </a:r>
            <a:br>
              <a:rPr lang="en-US" altLang="zh-CN" dirty="0"/>
            </a:br>
            <a:r>
              <a:rPr lang="en-US" altLang="zh-CN" dirty="0" err="1"/>
              <a:t>P|pr</a:t>
            </a:r>
            <a:r>
              <a:rPr lang="en-US" altLang="zh-CN" dirty="0"/>
              <a:t>|. We then count </a:t>
            </a:r>
            <a:r>
              <a:rPr lang="en-US" altLang="zh-CN" dirty="0" err="1"/>
              <a:t>ar</a:t>
            </a:r>
            <a:r>
              <a:rPr lang="en-US" altLang="zh-CN" dirty="0"/>
              <a:t> = </a:t>
            </a:r>
            <a:r>
              <a:rPr lang="en-US" altLang="zh-CN" dirty="0" err="1"/>
              <a:t>Pcc|prr</a:t>
            </a:r>
            <a:r>
              <a:rPr lang="en-US" altLang="zh-CN" dirty="0"/>
              <a:t>| , the average dynamic</a:t>
            </a:r>
            <a:br>
              <a:rPr lang="en-US" altLang="zh-CN" dirty="0"/>
            </a:br>
            <a:r>
              <a:rPr lang="en-US" altLang="zh-CN" dirty="0"/>
              <a:t>points-to size per calling context, to measure the accuracy</a:t>
            </a:r>
            <a:br>
              <a:rPr lang="en-US" altLang="zh-CN" dirty="0"/>
            </a:br>
            <a:r>
              <a:rPr lang="en-US" altLang="zh-CN" dirty="0"/>
              <a:t>of the points-to relations of v under the given context sensitivity </a:t>
            </a:r>
            <a:br>
              <a:rPr lang="en-US" altLang="zh-CN" dirty="0"/>
            </a:br>
            <a:r>
              <a:rPr lang="en-US" altLang="zh-CN" dirty="0"/>
              <a:t>The context sensitivity </a:t>
            </a:r>
            <a:r>
              <a:rPr lang="en-US" altLang="zh-CN" dirty="0" smtClean="0"/>
              <a:t>with the </a:t>
            </a:r>
            <a:r>
              <a:rPr lang="en-US" altLang="zh-CN" dirty="0"/>
              <a:t>smallest </a:t>
            </a:r>
            <a:r>
              <a:rPr lang="en-US" altLang="zh-CN" dirty="0" err="1"/>
              <a:t>ar</a:t>
            </a:r>
            <a:r>
              <a:rPr lang="en-US" altLang="zh-CN" dirty="0"/>
              <a:t> is chosen for the function that contains r </a:t>
            </a:r>
            <a:r>
              <a:rPr lang="en-US" altLang="zh-CN" dirty="0" smtClean="0"/>
              <a:t>as the </a:t>
            </a:r>
            <a:r>
              <a:rPr lang="en-US" altLang="zh-CN" dirty="0"/>
              <a:t>improvement suggestion </a:t>
            </a:r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723715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Evaluation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4"/>
            <a:ext cx="10676860" cy="4490115"/>
          </a:xfrm>
        </p:spPr>
        <p:txBody>
          <a:bodyPr>
            <a:normAutofit/>
          </a:bodyPr>
          <a:lstStyle/>
          <a:p>
            <a:r>
              <a:rPr lang="zh-CN" altLang="en-US" dirty="0" smtClean="0"/>
              <a:t>一：先对</a:t>
            </a:r>
            <a:r>
              <a:rPr lang="en-US" altLang="zh-CN" dirty="0" smtClean="0"/>
              <a:t>benchmark</a:t>
            </a:r>
            <a:r>
              <a:rPr lang="zh-CN" altLang="en-US" dirty="0" smtClean="0"/>
              <a:t>执行</a:t>
            </a:r>
            <a:r>
              <a:rPr lang="en-US" altLang="zh-CN" dirty="0" smtClean="0"/>
              <a:t>1-CFA</a:t>
            </a:r>
            <a:r>
              <a:rPr lang="zh-CN" altLang="en-US" dirty="0" smtClean="0"/>
              <a:t>分析，然后执行定位方法找到包含根本原因的函数，对这些函数</a:t>
            </a:r>
            <a:r>
              <a:rPr lang="en-US" altLang="zh-CN" dirty="0" smtClean="0"/>
              <a:t>applied additional argument sensitivity on the first arguments </a:t>
            </a:r>
            <a:r>
              <a:rPr lang="zh-CN" altLang="en-US" dirty="0" smtClean="0"/>
              <a:t>，剩下的函数执行</a:t>
            </a:r>
            <a:r>
              <a:rPr lang="en-US" altLang="zh-CN" dirty="0" smtClean="0"/>
              <a:t>1-CFA</a:t>
            </a:r>
            <a:r>
              <a:rPr lang="zh-CN" altLang="en-US" dirty="0" smtClean="0"/>
              <a:t>分析。</a:t>
            </a:r>
            <a:endParaRPr lang="en-US" altLang="zh-CN" dirty="0"/>
          </a:p>
          <a:p>
            <a:r>
              <a:rPr lang="zh-CN" altLang="en-US" dirty="0" smtClean="0"/>
              <a:t>二</a:t>
            </a:r>
            <a:r>
              <a:rPr lang="zh-CN" altLang="en-US" dirty="0"/>
              <a:t>：</a:t>
            </a:r>
            <a:r>
              <a:rPr lang="en-US" altLang="zh-CN" dirty="0"/>
              <a:t>we applied the root-cause localization as well as improvement suggestion algorithms on the baseline</a:t>
            </a:r>
            <a:r>
              <a:rPr lang="en-US" altLang="zh-CN" i="1" dirty="0"/>
              <a:t> </a:t>
            </a:r>
            <a:r>
              <a:rPr lang="en-US" altLang="zh-CN" dirty="0"/>
              <a:t>0-1-CFA analysis</a:t>
            </a:r>
            <a:r>
              <a:rPr lang="en-US" altLang="zh-CN" dirty="0" smtClean="0"/>
              <a:t>.</a:t>
            </a:r>
          </a:p>
          <a:p>
            <a:pPr lvl="1"/>
            <a:r>
              <a:rPr lang="en-US" altLang="zh-CN" dirty="0" smtClean="0"/>
              <a:t>Possible </a:t>
            </a:r>
            <a:r>
              <a:rPr lang="en-US" altLang="zh-CN" dirty="0"/>
              <a:t>suggestions for root-cause functions include: </a:t>
            </a:r>
            <a:endParaRPr lang="en-US" altLang="zh-CN" dirty="0" smtClean="0"/>
          </a:p>
          <a:p>
            <a:pPr marL="1428750" lvl="2" indent="-514350">
              <a:buFont typeface="+mj-lt"/>
              <a:buAutoNum type="alphaLcParenR"/>
            </a:pPr>
            <a:r>
              <a:rPr lang="en-US" altLang="zh-CN" dirty="0" smtClean="0"/>
              <a:t>a </a:t>
            </a:r>
            <a:r>
              <a:rPr lang="en-US" altLang="zh-CN" dirty="0"/>
              <a:t>context-insensitive </a:t>
            </a:r>
            <a:r>
              <a:rPr lang="en-US" altLang="zh-CN" dirty="0" smtClean="0"/>
              <a:t>analysis</a:t>
            </a:r>
            <a:endParaRPr lang="en-US" altLang="zh-CN" dirty="0"/>
          </a:p>
          <a:p>
            <a:pPr marL="1428750" lvl="2" indent="-514350">
              <a:buFont typeface="+mj-lt"/>
              <a:buAutoNum type="alphaLcParenR"/>
            </a:pPr>
            <a:r>
              <a:rPr lang="en-US" altLang="zh-CN" dirty="0"/>
              <a:t>a single context-sensitive analysis (i.e., 1-CFA or argument sensitivity on any argument of the </a:t>
            </a:r>
            <a:r>
              <a:rPr lang="en-US" altLang="zh-CN" dirty="0" smtClean="0"/>
              <a:t>function)</a:t>
            </a:r>
            <a:endParaRPr lang="en-US" altLang="zh-CN" dirty="0"/>
          </a:p>
          <a:p>
            <a:pPr marL="1428750" lvl="2" indent="-514350">
              <a:buFont typeface="+mj-lt"/>
              <a:buAutoNum type="alphaLcParenR"/>
            </a:pPr>
            <a:r>
              <a:rPr lang="en-US" altLang="zh-CN" dirty="0"/>
              <a:t>a combined context-sensitive analysis (e.g., 1-CFA + 1st-argument sensitivity) </a:t>
            </a:r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300662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Evaluation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199" y="1825624"/>
            <a:ext cx="10921409" cy="4415687"/>
          </a:xfrm>
        </p:spPr>
        <p:txBody>
          <a:bodyPr/>
          <a:lstStyle/>
          <a:p>
            <a:pPr marL="0" indent="0">
              <a:buNone/>
            </a:pPr>
            <a:r>
              <a:rPr lang="en-US" altLang="zh-CN" b="1" dirty="0" smtClean="0"/>
              <a:t>Hypothesis </a:t>
            </a:r>
            <a:r>
              <a:rPr lang="en-US" altLang="zh-CN" b="1" dirty="0"/>
              <a:t>I</a:t>
            </a:r>
            <a:r>
              <a:rPr lang="en-US" altLang="zh-CN" dirty="0"/>
              <a:t>: The root-cause localization algorithm </a:t>
            </a:r>
            <a:r>
              <a:rPr lang="en-US" altLang="zh-CN" dirty="0" smtClean="0"/>
              <a:t>can accurately </a:t>
            </a:r>
            <a:r>
              <a:rPr lang="en-US" altLang="zh-CN" dirty="0"/>
              <a:t>identify a small set of program constructs as </a:t>
            </a:r>
            <a:r>
              <a:rPr lang="en-US" altLang="zh-CN" dirty="0" smtClean="0"/>
              <a:t>the root </a:t>
            </a:r>
            <a:r>
              <a:rPr lang="en-US" altLang="zh-CN" dirty="0"/>
              <a:t>causes </a:t>
            </a:r>
            <a:r>
              <a:rPr lang="en-US" altLang="zh-CN" dirty="0" smtClean="0"/>
              <a:t>of imprecision</a:t>
            </a:r>
            <a:r>
              <a:rPr lang="en-US" altLang="zh-CN" dirty="0"/>
              <a:t>.</a:t>
            </a:r>
            <a:br>
              <a:rPr lang="en-US" altLang="zh-CN" dirty="0"/>
            </a:br>
            <a:r>
              <a:rPr lang="en-US" altLang="zh-CN" b="1" dirty="0"/>
              <a:t>Hypothesis II</a:t>
            </a:r>
            <a:r>
              <a:rPr lang="en-US" altLang="zh-CN" dirty="0"/>
              <a:t>: Guided by the root causes identified </a:t>
            </a:r>
            <a:r>
              <a:rPr lang="en-US" altLang="zh-CN" dirty="0" smtClean="0"/>
              <a:t>by the </a:t>
            </a:r>
            <a:r>
              <a:rPr lang="en-US" altLang="zh-CN" dirty="0"/>
              <a:t>localization algorithm, the improvement suggestion algorithm can recommend appropriate kinds of context sensitivity to significantly improve </a:t>
            </a:r>
            <a:r>
              <a:rPr lang="en-US" altLang="zh-CN" dirty="0" smtClean="0"/>
              <a:t>the analysis </a:t>
            </a:r>
            <a:r>
              <a:rPr lang="en-US" altLang="zh-CN" dirty="0"/>
              <a:t>precision. </a:t>
            </a:r>
            <a:br>
              <a:rPr lang="en-US" altLang="zh-CN" dirty="0"/>
            </a:br>
            <a:r>
              <a:rPr lang="en-US" altLang="zh-CN" dirty="0"/>
              <a:t/>
            </a:r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518727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Benchmarks I Results </a:t>
            </a:r>
            <a:endParaRPr lang="zh-CN" altLang="en-US" dirty="0"/>
          </a:p>
        </p:txBody>
      </p:sp>
      <p:pic>
        <p:nvPicPr>
          <p:cNvPr id="4" name="内容占位符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91387" y="1974351"/>
            <a:ext cx="9201150" cy="235267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694" y="4610689"/>
            <a:ext cx="4762500" cy="19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48854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Benchmarks II Results </a:t>
            </a:r>
            <a:endParaRPr lang="zh-CN" altLang="en-US" dirty="0"/>
          </a:p>
        </p:txBody>
      </p:sp>
      <p:pic>
        <p:nvPicPr>
          <p:cNvPr id="4" name="内容占位符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1901696"/>
            <a:ext cx="9324975" cy="4029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9761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Question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 smtClean="0"/>
              <a:t>是否可以推广使用（即该项目得到的结论可以推广到其它项目吗？）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659485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18393" y="1455370"/>
            <a:ext cx="10881946" cy="1806575"/>
          </a:xfrm>
        </p:spPr>
        <p:txBody>
          <a:bodyPr>
            <a:noAutofit/>
          </a:bodyPr>
          <a:lstStyle/>
          <a:p>
            <a:pPr algn="ctr"/>
            <a:r>
              <a:rPr lang="en-US" altLang="zh-CN" sz="6000" dirty="0"/>
              <a:t>Eff</a:t>
            </a:r>
            <a:r>
              <a:rPr lang="en-US" altLang="zh-CN" sz="6000" dirty="0" smtClean="0"/>
              <a:t>icient </a:t>
            </a:r>
            <a:r>
              <a:rPr lang="en-US" altLang="zh-CN" sz="6000" dirty="0"/>
              <a:t>Static Checking of Library Updates </a:t>
            </a:r>
            <a:endParaRPr lang="zh-CN" altLang="en-US" sz="6000" dirty="0"/>
          </a:p>
        </p:txBody>
      </p:sp>
    </p:spTree>
    <p:extLst>
      <p:ext uri="{BB962C8B-B14F-4D97-AF65-F5344CB8AC3E}">
        <p14:creationId xmlns:p14="http://schemas.microsoft.com/office/powerpoint/2010/main" val="29715537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INTRODUCTION 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a static analysis for automatically and </a:t>
            </a:r>
            <a:r>
              <a:rPr lang="en-US" altLang="zh-CN" dirty="0" err="1" smtClean="0"/>
              <a:t>effciently</a:t>
            </a:r>
            <a:r>
              <a:rPr lang="en-US" altLang="zh-CN" dirty="0" smtClean="0"/>
              <a:t> </a:t>
            </a:r>
            <a:r>
              <a:rPr lang="en-US" altLang="zh-CN" dirty="0"/>
              <a:t>checking if a library upgrade introduces </a:t>
            </a:r>
            <a:r>
              <a:rPr lang="en-US" altLang="zh-CN" dirty="0" smtClean="0"/>
              <a:t>an API </a:t>
            </a:r>
            <a:r>
              <a:rPr lang="en-US" altLang="zh-CN" dirty="0"/>
              <a:t>compatibility (colloquially termed a </a:t>
            </a:r>
            <a:r>
              <a:rPr lang="en-US" altLang="zh-CN" i="1" dirty="0"/>
              <a:t>breaking change</a:t>
            </a:r>
            <a:r>
              <a:rPr lang="en-US" altLang="zh-CN" dirty="0"/>
              <a:t>) </a:t>
            </a:r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558841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APPROACH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smtClean="0"/>
              <a:t>Basic diffs</a:t>
            </a:r>
            <a:r>
              <a:rPr lang="zh-CN" altLang="en-US" dirty="0" smtClean="0"/>
              <a:t>（基础的，由代码得到的）</a:t>
            </a:r>
            <a:endParaRPr lang="en-US" altLang="zh-CN" dirty="0" smtClean="0"/>
          </a:p>
          <a:p>
            <a:r>
              <a:rPr lang="en-US" altLang="zh-CN" dirty="0"/>
              <a:t>Transitively-changed </a:t>
            </a:r>
            <a:r>
              <a:rPr lang="en-US" altLang="zh-CN" dirty="0" smtClean="0"/>
              <a:t>Methods</a:t>
            </a:r>
            <a:r>
              <a:rPr lang="zh-CN" altLang="en-US" dirty="0" smtClean="0"/>
              <a:t>（间接改变的，通过调用图）</a:t>
            </a:r>
            <a:endParaRPr lang="en-US" altLang="zh-CN" dirty="0" smtClean="0"/>
          </a:p>
          <a:p>
            <a:r>
              <a:rPr lang="en-US" altLang="zh-CN" dirty="0"/>
              <a:t>Fast </a:t>
            </a:r>
            <a:r>
              <a:rPr lang="en-US" altLang="zh-CN" dirty="0" smtClean="0"/>
              <a:t>Queries</a:t>
            </a:r>
            <a:r>
              <a:rPr lang="zh-CN" altLang="en-US" dirty="0" smtClean="0"/>
              <a:t>（构建了相邻版本的调用图）</a:t>
            </a:r>
            <a:endParaRPr lang="en-US" altLang="zh-CN" dirty="0" smtClean="0"/>
          </a:p>
          <a:p>
            <a:r>
              <a:rPr lang="en-US" altLang="zh-CN" dirty="0"/>
              <a:t>Diﬀ </a:t>
            </a:r>
            <a:r>
              <a:rPr lang="en-US" altLang="zh-CN" dirty="0" smtClean="0"/>
              <a:t>Composition</a:t>
            </a:r>
            <a:r>
              <a:rPr lang="zh-CN" altLang="en-US" dirty="0" smtClean="0"/>
              <a:t>（</a:t>
            </a:r>
            <a:r>
              <a:rPr lang="en-US" altLang="zh-CN" dirty="0" smtClean="0"/>
              <a:t>diff</a:t>
            </a:r>
            <a:r>
              <a:rPr lang="zh-CN" altLang="en-US" dirty="0" smtClean="0"/>
              <a:t>复合）</a:t>
            </a:r>
            <a:endParaRPr lang="en-US" altLang="zh-CN" dirty="0" smtClean="0"/>
          </a:p>
          <a:p>
            <a:r>
              <a:rPr lang="en-US" altLang="zh-CN" dirty="0" smtClean="0"/>
              <a:t>Conflating Operations</a:t>
            </a:r>
            <a:r>
              <a:rPr lang="zh-CN" altLang="en-US" dirty="0" smtClean="0"/>
              <a:t>（合并不改变和丢失两种情况）</a:t>
            </a:r>
            <a:endParaRPr lang="en-US" altLang="zh-CN" dirty="0" smtClean="0"/>
          </a:p>
          <a:p>
            <a:r>
              <a:rPr lang="en-US" altLang="zh-CN" dirty="0"/>
              <a:t>Suggesting </a:t>
            </a:r>
            <a:r>
              <a:rPr lang="en-US" altLang="zh-CN" dirty="0" smtClean="0"/>
              <a:t>Upgrades</a:t>
            </a:r>
            <a:r>
              <a:rPr lang="zh-CN" altLang="en-US" dirty="0" smtClean="0"/>
              <a:t>（推荐更改）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748255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338468" y="971075"/>
            <a:ext cx="405277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/>
              <a:t>将变化分类为</a:t>
            </a:r>
            <a:r>
              <a:rPr lang="en-US" altLang="zh-CN" b="1" dirty="0"/>
              <a:t>INSERT</a:t>
            </a:r>
            <a:r>
              <a:rPr lang="en-US" altLang="zh-CN" dirty="0"/>
              <a:t>, </a:t>
            </a:r>
            <a:r>
              <a:rPr lang="en-US" altLang="zh-CN" b="1" dirty="0"/>
              <a:t>DELETE</a:t>
            </a:r>
            <a:r>
              <a:rPr lang="en-US" altLang="zh-CN" dirty="0"/>
              <a:t>, </a:t>
            </a:r>
            <a:r>
              <a:rPr lang="en-US" altLang="zh-CN" b="1" dirty="0" smtClean="0"/>
              <a:t>CHANGE</a:t>
            </a:r>
            <a:r>
              <a:rPr lang="zh-CN" altLang="en-US" b="1" dirty="0" smtClean="0"/>
              <a:t>，</a:t>
            </a:r>
            <a:r>
              <a:rPr lang="en-US" altLang="zh-CN" b="1" dirty="0" smtClean="0"/>
              <a:t>UNCHANGED</a:t>
            </a:r>
            <a:r>
              <a:rPr lang="zh-CN" altLang="en-US" b="1" dirty="0" smtClean="0"/>
              <a:t>，</a:t>
            </a:r>
            <a:r>
              <a:rPr lang="en-US" altLang="zh-CN" b="1" dirty="0" smtClean="0"/>
              <a:t>MISSING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build call graphs of library </a:t>
            </a:r>
            <a:r>
              <a:rPr lang="en-US" altLang="zh-CN" dirty="0" smtClean="0"/>
              <a:t>programs</a:t>
            </a:r>
          </a:p>
          <a:p>
            <a:r>
              <a:rPr lang="en-US" altLang="zh-CN" dirty="0" smtClean="0"/>
              <a:t>our </a:t>
            </a:r>
            <a:r>
              <a:rPr lang="en-US" altLang="zh-CN" dirty="0"/>
              <a:t>call graph construction algorithm uses standard techniques of CHA </a:t>
            </a:r>
            <a:r>
              <a:rPr lang="en-US" altLang="zh-CN" dirty="0" smtClean="0"/>
              <a:t>and </a:t>
            </a:r>
            <a:r>
              <a:rPr lang="en-US" altLang="zh-CN" dirty="0"/>
              <a:t>VTA </a:t>
            </a:r>
            <a:endParaRPr lang="en-US" altLang="zh-CN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 smtClean="0"/>
              <a:t>Get diff</a:t>
            </a:r>
          </a:p>
          <a:p>
            <a:r>
              <a:rPr lang="en-US" altLang="zh-CN" dirty="0" smtClean="0"/>
              <a:t>We </a:t>
            </a:r>
            <a:r>
              <a:rPr lang="en-US" altLang="zh-CN" dirty="0"/>
              <a:t>then use </a:t>
            </a:r>
            <a:r>
              <a:rPr lang="en-US" altLang="zh-CN" dirty="0" smtClean="0"/>
              <a:t>the call </a:t>
            </a:r>
            <a:r>
              <a:rPr lang="en-US" altLang="zh-CN" dirty="0"/>
              <a:t>graphs to improve diﬀs: given a method </a:t>
            </a:r>
            <a:r>
              <a:rPr lang="en-US" altLang="zh-CN" i="1" dirty="0"/>
              <a:t>m </a:t>
            </a:r>
            <a:r>
              <a:rPr lang="en-US" altLang="zh-CN" dirty="0"/>
              <a:t>whose </a:t>
            </a:r>
            <a:r>
              <a:rPr lang="en-US" altLang="zh-CN" dirty="0" err="1"/>
              <a:t>identifer</a:t>
            </a:r>
            <a:r>
              <a:rPr lang="en-US" altLang="zh-CN" dirty="0"/>
              <a:t> </a:t>
            </a:r>
            <a:r>
              <a:rPr lang="en-US" altLang="zh-CN" dirty="0" smtClean="0"/>
              <a:t>is present </a:t>
            </a:r>
            <a:r>
              <a:rPr lang="en-US" altLang="zh-CN" dirty="0"/>
              <a:t>in a diﬀ, we also include all public methods that call </a:t>
            </a:r>
            <a:r>
              <a:rPr lang="en-US" altLang="zh-CN" i="1" dirty="0" smtClean="0"/>
              <a:t>m</a:t>
            </a:r>
            <a:r>
              <a:rPr lang="en-US" altLang="zh-CN" dirty="0" smtClean="0"/>
              <a:t>.</a:t>
            </a:r>
            <a:r>
              <a:rPr lang="en-US" altLang="zh-CN" dirty="0"/>
              <a:t/>
            </a:r>
            <a:br>
              <a:rPr lang="en-US" altLang="zh-CN" dirty="0"/>
            </a:br>
            <a:r>
              <a:rPr lang="en-US" altLang="zh-CN" dirty="0"/>
              <a:t> </a:t>
            </a:r>
            <a:endParaRPr lang="zh-CN" altLang="en-US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5432" y="971075"/>
            <a:ext cx="3765590" cy="5471447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1022" y="1287033"/>
            <a:ext cx="3533775" cy="4543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60200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4" name="内容占位符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623959" y="1985963"/>
            <a:ext cx="3590925" cy="32385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690688"/>
            <a:ext cx="3905250" cy="3533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5837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b="1" dirty="0">
                <a:solidFill>
                  <a:srgbClr val="000000"/>
                </a:solidFill>
                <a:latin typeface="LinLibertineTB"/>
              </a:rPr>
              <a:t>Suggesting Upgrades</a:t>
            </a:r>
            <a:r>
              <a:rPr lang="en-US" altLang="zh-CN" dirty="0"/>
              <a:t> </a:t>
            </a:r>
            <a:br>
              <a:rPr lang="en-US" altLang="zh-CN" dirty="0"/>
            </a:b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2727" y="2406060"/>
            <a:ext cx="4610100" cy="361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96422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Evaluation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dirty="0"/>
              <a:t>Maven Central (</a:t>
            </a:r>
            <a:r>
              <a:rPr lang="en-US" altLang="zh-CN" dirty="0" smtClean="0"/>
              <a:t>3273 libraries</a:t>
            </a:r>
            <a:r>
              <a:rPr lang="en-US" altLang="zh-CN" dirty="0"/>
              <a:t>), </a:t>
            </a:r>
            <a:r>
              <a:rPr lang="en-US" altLang="zh-CN" dirty="0" err="1"/>
              <a:t>RubyGems</a:t>
            </a:r>
            <a:r>
              <a:rPr lang="en-US" altLang="zh-CN" dirty="0"/>
              <a:t> (1332), and </a:t>
            </a:r>
            <a:r>
              <a:rPr lang="en-US" altLang="zh-CN" dirty="0" err="1"/>
              <a:t>PyPI</a:t>
            </a:r>
            <a:r>
              <a:rPr lang="en-US" altLang="zh-CN" dirty="0"/>
              <a:t> (501) </a:t>
            </a:r>
            <a:br>
              <a:rPr lang="en-US" altLang="zh-CN" dirty="0"/>
            </a:b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159" y="2701925"/>
            <a:ext cx="4324350" cy="360997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7722" y="2613790"/>
            <a:ext cx="4590799" cy="3572131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5637722" y="6176963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800" dirty="0">
                <a:solidFill>
                  <a:srgbClr val="005595"/>
                </a:solidFill>
                <a:latin typeface="LinLibertineT"/>
              </a:rPr>
              <a:t>https://github</a:t>
            </a:r>
            <a:r>
              <a:rPr lang="en-US" altLang="zh-CN" dirty="0">
                <a:solidFill>
                  <a:srgbClr val="005595"/>
                </a:solidFill>
                <a:latin typeface="rtxmi7"/>
              </a:rPr>
              <a:t>.</a:t>
            </a:r>
            <a:r>
              <a:rPr lang="en-US" altLang="zh-CN" sz="800" dirty="0">
                <a:solidFill>
                  <a:srgbClr val="005595"/>
                </a:solidFill>
                <a:latin typeface="LinLibertineT"/>
              </a:rPr>
              <a:t>com/requests/requests/compare/v2</a:t>
            </a:r>
            <a:r>
              <a:rPr lang="en-US" altLang="zh-CN" dirty="0">
                <a:solidFill>
                  <a:srgbClr val="005595"/>
                </a:solidFill>
                <a:latin typeface="rtxmi7"/>
              </a:rPr>
              <a:t>.</a:t>
            </a:r>
            <a:r>
              <a:rPr lang="en-US" altLang="zh-CN" sz="800" dirty="0">
                <a:solidFill>
                  <a:srgbClr val="005595"/>
                </a:solidFill>
                <a:latin typeface="LinLibertineT"/>
              </a:rPr>
              <a:t>3</a:t>
            </a:r>
            <a:r>
              <a:rPr lang="en-US" altLang="zh-CN" dirty="0">
                <a:solidFill>
                  <a:srgbClr val="005595"/>
                </a:solidFill>
                <a:latin typeface="rtxmi7"/>
              </a:rPr>
              <a:t>.</a:t>
            </a:r>
            <a:r>
              <a:rPr lang="en-US" altLang="zh-CN" sz="800" dirty="0">
                <a:solidFill>
                  <a:srgbClr val="005595"/>
                </a:solidFill>
                <a:latin typeface="LinLibertineT"/>
              </a:rPr>
              <a:t>0</a:t>
            </a:r>
            <a:r>
              <a:rPr lang="en-US" altLang="zh-CN" dirty="0">
                <a:solidFill>
                  <a:srgbClr val="005595"/>
                </a:solidFill>
                <a:latin typeface="rtxmi7"/>
              </a:rPr>
              <a:t>...</a:t>
            </a:r>
            <a:r>
              <a:rPr lang="en-US" altLang="zh-CN" sz="800" dirty="0">
                <a:solidFill>
                  <a:srgbClr val="005595"/>
                </a:solidFill>
                <a:latin typeface="LinLibertineT"/>
              </a:rPr>
              <a:t>v2</a:t>
            </a:r>
            <a:r>
              <a:rPr lang="en-US" altLang="zh-CN" dirty="0">
                <a:solidFill>
                  <a:srgbClr val="005595"/>
                </a:solidFill>
                <a:latin typeface="rtxmi7"/>
              </a:rPr>
              <a:t>.</a:t>
            </a:r>
            <a:r>
              <a:rPr lang="en-US" altLang="zh-CN" sz="800" dirty="0">
                <a:solidFill>
                  <a:srgbClr val="005595"/>
                </a:solidFill>
                <a:latin typeface="LinLibertineT"/>
              </a:rPr>
              <a:t>4</a:t>
            </a:r>
            <a:r>
              <a:rPr lang="en-US" altLang="zh-CN" dirty="0">
                <a:solidFill>
                  <a:srgbClr val="005595"/>
                </a:solidFill>
                <a:latin typeface="rtxmi7"/>
              </a:rPr>
              <a:t>.</a:t>
            </a:r>
            <a:r>
              <a:rPr lang="en-US" altLang="zh-CN" sz="800" dirty="0">
                <a:solidFill>
                  <a:srgbClr val="005595"/>
                </a:solidFill>
                <a:latin typeface="LinLibertineT"/>
              </a:rPr>
              <a:t>0#diﬀ-</a:t>
            </a:r>
            <a:br>
              <a:rPr lang="en-US" altLang="zh-CN" sz="800" dirty="0">
                <a:solidFill>
                  <a:srgbClr val="005595"/>
                </a:solidFill>
                <a:latin typeface="LinLibertineT"/>
              </a:rPr>
            </a:br>
            <a:r>
              <a:rPr lang="en-US" altLang="zh-CN" sz="800" dirty="0">
                <a:solidFill>
                  <a:srgbClr val="005595"/>
                </a:solidFill>
                <a:latin typeface="LinLibertineT"/>
              </a:rPr>
              <a:t>2bdbe7e19f5215e8c319573cdd114f01L16</a:t>
            </a:r>
            <a:r>
              <a:rPr lang="en-US" altLang="zh-CN" dirty="0"/>
              <a:t> </a:t>
            </a:r>
            <a:br>
              <a:rPr lang="en-US" altLang="zh-CN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478036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4" name="内容占位符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697944" y="2314039"/>
            <a:ext cx="4610030" cy="2204797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925031" y="2314039"/>
            <a:ext cx="4132223" cy="2868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/>
              <a:t>实验方法：</a:t>
            </a:r>
            <a:endParaRPr lang="en-US" altLang="zh-CN" dirty="0" smtClean="0"/>
          </a:p>
          <a:p>
            <a:r>
              <a:rPr lang="en-US" altLang="zh-CN" dirty="0"/>
              <a:t>we </a:t>
            </a:r>
            <a:r>
              <a:rPr lang="en-US" altLang="zh-CN" dirty="0" err="1"/>
              <a:t>identifed</a:t>
            </a:r>
            <a:r>
              <a:rPr lang="en-US" altLang="zh-CN" dirty="0"/>
              <a:t> 4777 unique direct dependencies, of which 246 had known vulnerabilities in our database. </a:t>
            </a:r>
          </a:p>
          <a:p>
            <a:r>
              <a:rPr lang="en-US" altLang="zh-CN" dirty="0"/>
              <a:t>We were then able to suggest upgrades for 150 of those; 36 had no safe versions to upgrade to, and 60 failed due to the errors in an earlier part of the pipeline 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620400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1020</TotalTime>
  <Words>2295</Words>
  <Application>Microsoft Office PowerPoint</Application>
  <PresentationFormat>宽屏</PresentationFormat>
  <Paragraphs>234</Paragraphs>
  <Slides>37</Slides>
  <Notes>31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37</vt:i4>
      </vt:variant>
    </vt:vector>
  </HeadingPairs>
  <TitlesOfParts>
    <vt:vector size="45" baseType="lpstr">
      <vt:lpstr>LinLibertineT</vt:lpstr>
      <vt:lpstr>LinLibertineTB</vt:lpstr>
      <vt:lpstr>rtxmi7</vt:lpstr>
      <vt:lpstr>等线</vt:lpstr>
      <vt:lpstr>等线 Light</vt:lpstr>
      <vt:lpstr>Arial</vt:lpstr>
      <vt:lpstr>Wingdings</vt:lpstr>
      <vt:lpstr>Office 主题​​</vt:lpstr>
      <vt:lpstr>Statically Checking Web API Requests in JavaScript</vt:lpstr>
      <vt:lpstr>INTRODUCTION </vt:lpstr>
      <vt:lpstr>Overview</vt:lpstr>
      <vt:lpstr>PowerPoint 演示文稿</vt:lpstr>
      <vt:lpstr>PowerPoint 演示文稿</vt:lpstr>
      <vt:lpstr>CHECKING PROCEDURE </vt:lpstr>
      <vt:lpstr>PowerPoint 演示文稿</vt:lpstr>
      <vt:lpstr>Evaluation</vt:lpstr>
      <vt:lpstr>Data Collection </vt:lpstr>
      <vt:lpstr>Endpoint Results </vt:lpstr>
      <vt:lpstr>PowerPoint 演示文稿</vt:lpstr>
      <vt:lpstr>Payload Data Results </vt:lpstr>
      <vt:lpstr>Query Parameter Results </vt:lpstr>
      <vt:lpstr>Future work</vt:lpstr>
      <vt:lpstr>Revamping JavaScript Static Analysis via Localization and Remediation of Root Causes of Imprecision</vt:lpstr>
      <vt:lpstr>Introduction</vt:lpstr>
      <vt:lpstr>Motivation</vt:lpstr>
      <vt:lpstr>Overview</vt:lpstr>
      <vt:lpstr>Overview</vt:lpstr>
      <vt:lpstr>Root-cause location</vt:lpstr>
      <vt:lpstr>PowerPoint 演示文稿</vt:lpstr>
      <vt:lpstr>PowerPoint 演示文稿</vt:lpstr>
      <vt:lpstr>Improvement Suggestion</vt:lpstr>
      <vt:lpstr>Improvement Suggestion</vt:lpstr>
      <vt:lpstr>Evaluation</vt:lpstr>
      <vt:lpstr>Evaluation</vt:lpstr>
      <vt:lpstr>Benchmarks I Results </vt:lpstr>
      <vt:lpstr>Benchmarks II Results </vt:lpstr>
      <vt:lpstr>Question</vt:lpstr>
      <vt:lpstr>Efficient Static Checking of Library Updates </vt:lpstr>
      <vt:lpstr>INTRODUCTION </vt:lpstr>
      <vt:lpstr>APPROACH</vt:lpstr>
      <vt:lpstr>PowerPoint 演示文稿</vt:lpstr>
      <vt:lpstr>PowerPoint 演示文稿</vt:lpstr>
      <vt:lpstr>PowerPoint 演示文稿</vt:lpstr>
      <vt:lpstr>Evaluation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njdx</dc:creator>
  <cp:lastModifiedBy>njdx</cp:lastModifiedBy>
  <cp:revision>162</cp:revision>
  <dcterms:created xsi:type="dcterms:W3CDTF">2019-03-26T11:19:10Z</dcterms:created>
  <dcterms:modified xsi:type="dcterms:W3CDTF">2019-03-31T14:03:51Z</dcterms:modified>
</cp:coreProperties>
</file>