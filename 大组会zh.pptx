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65" r:id="rId4"/>
    <p:sldId id="258" r:id="rId5"/>
    <p:sldId id="267" r:id="rId6"/>
    <p:sldId id="266" r:id="rId7"/>
    <p:sldId id="268" r:id="rId8"/>
    <p:sldId id="259" r:id="rId9"/>
    <p:sldId id="260" r:id="rId10"/>
    <p:sldId id="261" r:id="rId11"/>
    <p:sldId id="292" r:id="rId12"/>
    <p:sldId id="262" r:id="rId13"/>
    <p:sldId id="263" r:id="rId14"/>
    <p:sldId id="264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6" r:id="rId26"/>
    <p:sldId id="275" r:id="rId27"/>
    <p:sldId id="284" r:id="rId28"/>
    <p:sldId id="287" r:id="rId29"/>
    <p:sldId id="285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205" autoAdjust="0"/>
  </p:normalViewPr>
  <p:slideViewPr>
    <p:cSldViewPr snapToGrid="0">
      <p:cViewPr varScale="1">
        <p:scale>
          <a:sx n="90" d="100"/>
          <a:sy n="90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451CF-4477-487C-80D6-EEDE3E70D9F2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57DDF-2958-4B06-BBB2-5E1DEC7CA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8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ICSE 2017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88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该篇论文主要做的就是通过静态分析识别出代码中的</a:t>
            </a:r>
            <a:r>
              <a:rPr lang="en-US" altLang="zh-CN" dirty="0" smtClean="0"/>
              <a:t>Web API</a:t>
            </a:r>
            <a:r>
              <a:rPr lang="zh-CN" altLang="en-US" dirty="0" smtClean="0"/>
              <a:t>调用，检查是否符合</a:t>
            </a:r>
            <a:r>
              <a:rPr lang="en-US" altLang="zh-CN" dirty="0" smtClean="0"/>
              <a:t>API</a:t>
            </a:r>
            <a:r>
              <a:rPr lang="zh-CN" altLang="en-US" dirty="0" smtClean="0"/>
              <a:t>规范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The work is to check whether the request conforms to publicly available web API specifications </a:t>
            </a:r>
          </a:p>
          <a:p>
            <a:r>
              <a:rPr lang="zh-CN" altLang="en-US" dirty="0" smtClean="0"/>
              <a:t>创新点：一是静态的分析（区别于动态执行需要验证和覆盖率较低的问题），二是从客户端调用的角度</a:t>
            </a:r>
            <a:endParaRPr lang="en-US" altLang="zh-CN" dirty="0" smtClean="0"/>
          </a:p>
          <a:p>
            <a:r>
              <a:rPr lang="en-US" altLang="zh-CN" dirty="0" smtClean="0"/>
              <a:t>Endpoint</a:t>
            </a:r>
          </a:p>
          <a:p>
            <a:pPr marL="0" indent="0">
              <a:buNone/>
            </a:pPr>
            <a:r>
              <a:rPr lang="en-US" altLang="zh-CN" dirty="0" smtClean="0"/>
              <a:t>a URL and HTTP method</a:t>
            </a:r>
          </a:p>
          <a:p>
            <a:endParaRPr lang="en-US" altLang="zh-CN" dirty="0" smtClean="0"/>
          </a:p>
          <a:p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Swagger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144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Inter-procedural static analysis</a:t>
            </a:r>
            <a:r>
              <a:rPr lang="zh-CN" altLang="en-US" dirty="0" smtClean="0"/>
              <a:t>指的是控制流分析和数据流分析</a:t>
            </a:r>
            <a:endParaRPr lang="en-US" altLang="zh-CN" dirty="0" smtClean="0"/>
          </a:p>
          <a:p>
            <a:r>
              <a:rPr lang="en-US" altLang="zh-CN" dirty="0" smtClean="0"/>
              <a:t>Checking a request against a web API Specification</a:t>
            </a:r>
            <a:r>
              <a:rPr lang="zh-CN" altLang="en-US" dirty="0" smtClean="0"/>
              <a:t>：首先检查在</a:t>
            </a:r>
            <a:r>
              <a:rPr lang="en-US" altLang="zh-CN" dirty="0" smtClean="0"/>
              <a:t>API</a:t>
            </a:r>
            <a:r>
              <a:rPr lang="zh-CN" altLang="en-US" dirty="0" smtClean="0"/>
              <a:t>规范中是否有这样的端点（</a:t>
            </a:r>
            <a:r>
              <a:rPr lang="en-US" altLang="zh-CN" dirty="0" smtClean="0"/>
              <a:t>endpoint</a:t>
            </a:r>
            <a:r>
              <a:rPr lang="zh-CN" altLang="en-US" dirty="0" smtClean="0"/>
              <a:t>），然后在确定端点之后检查参数格式是否一致，最后检查写入请求体中的数据是否正确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042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Field-based Call Graph Builder</a:t>
            </a:r>
            <a:endParaRPr lang="zh-CN" altLang="zh-CN" dirty="0" smtClean="0"/>
          </a:p>
          <a:p>
            <a:pPr marL="0" indent="0">
              <a:buNone/>
            </a:pPr>
            <a:r>
              <a:rPr lang="en-US" altLang="zh-CN" dirty="0" smtClean="0"/>
              <a:t>   In our implementation, we used the field-based call graph construction available in WALA .We take all functions in the script as entry points for the call graph</a:t>
            </a:r>
            <a:endParaRPr lang="zh-CN" altLang="zh-CN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Web Request Locator</a:t>
            </a:r>
            <a:endParaRPr lang="zh-CN" altLang="zh-CN" dirty="0" smtClean="0"/>
          </a:p>
          <a:p>
            <a:pPr marL="0" indent="0">
              <a:buNone/>
            </a:pPr>
            <a:r>
              <a:rPr lang="en-US" altLang="zh-CN" dirty="0" smtClean="0"/>
              <a:t>   To identify API invocations, we look for framework-specific patterns in the call graph. For jQuery, we handle the most common patterns, i.e., function calls to $.ajax, $.get, and $.post</a:t>
            </a:r>
            <a:r>
              <a:rPr lang="zh-CN" altLang="zh-CN" dirty="0" smtClean="0"/>
              <a:t>。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Backward Slicer for Request Marshaling</a:t>
            </a:r>
            <a:endParaRPr lang="zh-CN" altLang="zh-CN" dirty="0" smtClean="0"/>
          </a:p>
          <a:p>
            <a:pPr marL="0" indent="0">
              <a:buNone/>
            </a:pPr>
            <a:r>
              <a:rPr lang="en-US" altLang="zh-CN" dirty="0" smtClean="0"/>
              <a:t>   Using WALA backward slicer, we recover all possible data flows that lead to the request.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977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The goal of the checking procedure is to match the information produced by the static analysis against formal web API specifications.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这个地方还要重写</a:t>
            </a:r>
            <a:endParaRPr lang="zh-CN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764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收集数据具体是怎么操作的？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79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Precision for endpoint</a:t>
            </a:r>
            <a:r>
              <a:rPr lang="en-US" altLang="zh-CN" baseline="0" dirty="0" smtClean="0"/>
              <a:t> checking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:96%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756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681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Precision for</a:t>
            </a:r>
            <a:r>
              <a:rPr lang="en-US" altLang="zh-CN" baseline="0" dirty="0" smtClean="0"/>
              <a:t> payload data checking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:87.9%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440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Precision for query</a:t>
            </a:r>
            <a:r>
              <a:rPr lang="en-US" altLang="zh-CN" baseline="0" dirty="0" smtClean="0"/>
              <a:t> </a:t>
            </a:r>
            <a:r>
              <a:rPr lang="en-US" altLang="zh-CN" dirty="0" smtClean="0"/>
              <a:t>parameter</a:t>
            </a:r>
            <a:r>
              <a:rPr lang="en-US" altLang="zh-CN" baseline="0" dirty="0" smtClean="0"/>
              <a:t> checking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:99.9%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607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可能的问题：</a:t>
            </a:r>
            <a:endParaRPr lang="en-US" altLang="zh-CN" dirty="0" smtClean="0"/>
          </a:p>
          <a:p>
            <a:r>
              <a:rPr lang="en-US" altLang="zh-CN" dirty="0" smtClean="0"/>
              <a:t>API</a:t>
            </a:r>
            <a:r>
              <a:rPr lang="zh-CN" altLang="en-US" dirty="0" smtClean="0"/>
              <a:t>规范可能存在问题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505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2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静态分析需要考虑精度和性能两个方面，然后该论文使用动态运行信息来找到关键的上下文信息，对这些代码进行上下文敏感分析，会提高精度而不会影响性能。</a:t>
            </a:r>
            <a:endParaRPr lang="en-US" altLang="zh-CN" sz="20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diagnosis algorithm is applied to trace this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bad”behavior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to its root causes linked to specific functions. By applying a well-chosen context sensitivity policy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on these functions during a fresh analysis pass,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anomalous behavior may be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circumventable</a:t>
            </a:r>
            <a:r>
              <a:rPr lang="en-US" altLang="zh-CN" sz="2000" dirty="0" smtClean="0"/>
              <a:t> 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20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825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实证分析说明对于</a:t>
            </a:r>
            <a:r>
              <a:rPr lang="en-US" altLang="zh-CN" dirty="0" err="1" smtClean="0"/>
              <a:t>Javascript</a:t>
            </a:r>
            <a:r>
              <a:rPr lang="zh-CN" altLang="en-US" dirty="0" smtClean="0"/>
              <a:t>静态分析，有些变量的上下文信息比较重要，这些是影响静态分析精度的</a:t>
            </a:r>
            <a:r>
              <a:rPr lang="en-US" altLang="zh-CN" dirty="0" smtClean="0"/>
              <a:t>root causes</a:t>
            </a:r>
            <a:r>
              <a:rPr lang="zh-CN" altLang="en-US" dirty="0" smtClean="0"/>
              <a:t>，所以需要设计方法来定位这些</a:t>
            </a:r>
            <a:r>
              <a:rPr lang="en-US" altLang="zh-CN" dirty="0" smtClean="0"/>
              <a:t>root causes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The existence of such “jumps” indicates that the overly-approximated results are frequently</a:t>
            </a:r>
            <a:r>
              <a:rPr lang="en-US" altLang="zh-CN" baseline="0" dirty="0" smtClean="0"/>
              <a:t> </a:t>
            </a:r>
            <a:r>
              <a:rPr lang="en-US" altLang="zh-CN" dirty="0" smtClean="0"/>
              <a:t>propagated, resulting in significant overall precision loss 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result also indicates that overly-approximated results of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 program constructs may pollute many places in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 due to copying during the points-to propagations</a:t>
            </a:r>
            <a:r>
              <a:rPr lang="en-US" altLang="zh-CN" dirty="0" smtClean="0"/>
              <a:t> </a:t>
            </a:r>
          </a:p>
          <a:p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Motivation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results motivated us to design an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 approach to identify root causes of imprecision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via the differences in static analysis behavior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16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Root cause</a:t>
            </a:r>
            <a:r>
              <a:rPr lang="zh-CN" altLang="en-US" dirty="0" smtClean="0"/>
              <a:t>的定位和补救：面临的问题有两个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the program</a:t>
            </a:r>
            <a:b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construct has a wide reach within the propagation system(e.g., the values of the property access source[name] are assigned to target[name] at line 5 and are transitively propagated to about 500 other program variables or reference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properties), and (ii) the impact of its wide reach is significant (e.g., looking up the property name of source at line 5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produces the points-to size of 150)</a:t>
            </a:r>
            <a:r>
              <a:rPr lang="en-US" altLang="zh-CN" dirty="0" smtClean="0"/>
              <a:t> </a:t>
            </a: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design an improvement suggestion algorithm that uses dynamic information to suggest appropriate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sensitivity to improve the analysis precision on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identified root causes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78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Labeled Propagation System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solves a constraint that assigns a program pointer v2 to another pointer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v1 by adding the points-to set of v2 to that of v1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Moreover, a label v2 is associated with the points-to set of v1 that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indicates (some of) the points-to relations of v1 were propagated through v2</a:t>
            </a:r>
            <a:r>
              <a:rPr lang="en-US" altLang="zh-CN" dirty="0" smtClean="0"/>
              <a:t> </a:t>
            </a:r>
          </a:p>
          <a:p>
            <a:r>
              <a:rPr lang="zh-CN" altLang="en-US" dirty="0" smtClean="0"/>
              <a:t>我的理解：如果</a:t>
            </a:r>
            <a:r>
              <a:rPr lang="en-US" altLang="zh-CN" dirty="0" smtClean="0"/>
              <a:t>v1</a:t>
            </a:r>
            <a:r>
              <a:rPr lang="zh-CN" altLang="en-US" dirty="0" smtClean="0"/>
              <a:t>被赋值给了</a:t>
            </a:r>
            <a:r>
              <a:rPr lang="en-US" altLang="zh-CN" dirty="0" smtClean="0"/>
              <a:t>v2</a:t>
            </a:r>
            <a:r>
              <a:rPr lang="zh-CN" altLang="en-US" dirty="0" smtClean="0"/>
              <a:t>，则</a:t>
            </a:r>
            <a:r>
              <a:rPr lang="en-US" altLang="zh-CN" dirty="0" smtClean="0"/>
              <a:t>label v2</a:t>
            </a:r>
            <a:r>
              <a:rPr lang="zh-CN" altLang="en-US" dirty="0" smtClean="0"/>
              <a:t>将被赋值</a:t>
            </a:r>
            <a:r>
              <a:rPr lang="en-US" altLang="zh-CN" dirty="0" smtClean="0"/>
              <a:t>v1</a:t>
            </a:r>
            <a:r>
              <a:rPr lang="zh-CN" altLang="en-US" dirty="0" smtClean="0"/>
              <a:t>的指向集，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retain all these reference properties (e.g.,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psource_i.pname_j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as labels attached to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points-to set of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vtmp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097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首先建立了一个预测模型，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prediction model can capture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“jump” phase of the points-to analysis shown in Figure 2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926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因为获得了不同的上下文敏感的动态指向图，可以确定哪个</a:t>
            </a:r>
            <a:r>
              <a:rPr lang="en-US" altLang="zh-CN" dirty="0" smtClean="0"/>
              <a:t>policy</a:t>
            </a:r>
            <a:r>
              <a:rPr lang="zh-CN" altLang="en-US" dirty="0" smtClean="0"/>
              <a:t>是有用的。（</a:t>
            </a:r>
            <a:r>
              <a:rPr lang="en-US" altLang="zh-CN" dirty="0" smtClean="0"/>
              <a:t>policy</a:t>
            </a:r>
            <a:r>
              <a:rPr lang="zh-CN" altLang="en-US" dirty="0" smtClean="0"/>
              <a:t>包括</a:t>
            </a:r>
            <a:r>
              <a:rPr lang="en-US" altLang="zh-CN" dirty="0" smtClean="0"/>
              <a:t>call site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argument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everywhere</a:t>
            </a:r>
            <a:r>
              <a:rPr lang="zh-CN" altLang="en-US" dirty="0" smtClean="0"/>
              <a:t>）去确定哪种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 context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target program is executed to collect a dynamic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</a:t>
            </a:r>
            <a:r>
              <a:rPr lang="en-US" altLang="zh-CN" dirty="0" smtClean="0"/>
              <a:t> </a:t>
            </a:r>
          </a:p>
          <a:p>
            <a:pPr marL="285750" indent="-285750">
              <a:buAutoNum type="romanLcParenBoth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entries and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exits; (ii) invocations; and (iii) property reads and writes</a:t>
            </a:r>
            <a:r>
              <a:rPr lang="en-US" altLang="zh-CN" dirty="0" smtClean="0"/>
              <a:t> </a:t>
            </a:r>
            <a:r>
              <a:rPr lang="zh-CN" altLang="en-US" dirty="0" smtClean="0"/>
              <a:t>动态的指向图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此模块是通过动态的方法去确定选择哪种</a:t>
            </a:r>
            <a:r>
              <a:rPr lang="en-US" altLang="zh-CN" dirty="0" smtClean="0"/>
              <a:t>calling context</a:t>
            </a:r>
            <a:r>
              <a:rPr lang="zh-CN" altLang="en-US" dirty="0" smtClean="0"/>
              <a:t>是最好的。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问题在于此项目适用，并不代表这里得到的结论可以用于其它项目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999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 smtClean="0"/>
              <a:t>两组实验：</a:t>
            </a:r>
            <a:endParaRPr lang="en-US" altLang="zh-CN" baseline="0" dirty="0" smtClean="0"/>
          </a:p>
          <a:p>
            <a:r>
              <a:rPr lang="zh-CN" altLang="en-US" baseline="0" dirty="0" smtClean="0"/>
              <a:t>实验一：先对</a:t>
            </a:r>
            <a:r>
              <a:rPr lang="en-US" altLang="zh-CN" baseline="0" dirty="0" smtClean="0"/>
              <a:t>benchmark</a:t>
            </a:r>
            <a:r>
              <a:rPr lang="zh-CN" altLang="en-US" baseline="0" dirty="0" smtClean="0"/>
              <a:t>执行</a:t>
            </a:r>
            <a:r>
              <a:rPr lang="en-US" altLang="zh-CN" baseline="0" dirty="0" smtClean="0"/>
              <a:t>1-CFA</a:t>
            </a:r>
            <a:r>
              <a:rPr lang="zh-CN" altLang="en-US" baseline="0" dirty="0" smtClean="0"/>
              <a:t>分析，然后执行定位方法找到包含根本原因的函数，对这些函数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applied additional argument sensitivity on the first arguments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，剩下的函数执行</a:t>
            </a:r>
            <a:r>
              <a:rPr lang="en-US" altLang="zh-CN" dirty="0" smtClean="0"/>
              <a:t>1-CFA</a:t>
            </a:r>
            <a:r>
              <a:rPr lang="zh-CN" altLang="en-US" dirty="0" smtClean="0"/>
              <a:t>分析。</a:t>
            </a:r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whole-program 1-CFA and 1</a:t>
            </a:r>
            <a:r>
              <a:rPr lang="en-US" altLang="zh-CN" sz="1200" b="0" i="0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-argument-sensitive analysis, and the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selective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en-US" altLang="zh-CN" dirty="0" smtClean="0"/>
              <a:t> </a:t>
            </a:r>
          </a:p>
          <a:p>
            <a:r>
              <a:rPr lang="zh-CN" altLang="en-US" dirty="0" smtClean="0"/>
              <a:t>实验二：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applied the root-cause localization as well as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improvement suggestion algorithms on the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0-1-CFA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analysis.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Possible suggestions for root-cause functions include: </a:t>
            </a:r>
          </a:p>
          <a:p>
            <a:pPr marL="285750" indent="-285750">
              <a:buAutoNum type="romanLcParenBoth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context-insensitive analysis,</a:t>
            </a:r>
          </a:p>
          <a:p>
            <a:pPr marL="285750" indent="-285750">
              <a:buAutoNum type="romanLcParenBoth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context-sensitive analysis (i.e., 1-CFA or argument sensitivity on any argument of the function5)</a:t>
            </a:r>
          </a:p>
          <a:p>
            <a:pPr marL="285750" indent="-285750">
              <a:buAutoNum type="romanLcParenBoth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combined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context-sensitive analysis (e.g., 1-CFA + 1st-argument sensitivity)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27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两个实验分别验证了这两个假设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983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result suggests that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1-CFA analysis is imprecise to resolve the call targets in many cases, and 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(ii)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whole-combined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 applies 1st-argument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 over all the program, it may create many calling contexts for the functions that are not identified as root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causes which may not significantly increase the analysis precision (e.g., in terms of the REAC_FUNC metric)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5234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478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论文的创新点：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、第一个定位静态分析精度不准的根本原因的工作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、第一个使用动态信息自动建议上下文敏感类型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、认为找到使得初始静态分析性能不好的原因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040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FSE 2018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6973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研究背景：第三方库更新导致下游应用不兼容，语义版本控制（</a:t>
            </a:r>
            <a:r>
              <a:rPr lang="en-US" altLang="zh-CN" dirty="0" err="1" smtClean="0"/>
              <a:t>SemVer</a:t>
            </a:r>
            <a:r>
              <a:rPr lang="zh-CN" altLang="en-US" dirty="0" smtClean="0"/>
              <a:t>（主版本号、次版本号、修订号））作为一种解决办法，库作者会在版本号上标明是否有</a:t>
            </a:r>
            <a:r>
              <a:rPr lang="en-US" altLang="zh-CN" dirty="0" smtClean="0"/>
              <a:t>breaking change</a:t>
            </a:r>
            <a:r>
              <a:rPr lang="zh-CN" altLang="en-US" dirty="0" smtClean="0"/>
              <a:t>，存在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必须人工处理和不能捕捉细粒度的代码变更的问题。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unsurprisingly, it's impossible for that single number to contain enough meaningful information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本文提出一种自动检查库更新是否保证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兼容性的静态分析工具。与语义版本控制不同的是，不使用版本信息，而是直接对源代码计算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涉及到三种语言：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Ruby</a:t>
            </a:r>
          </a:p>
          <a:p>
            <a:r>
              <a:rPr lang="zh-CN" altLang="en-US" dirty="0" smtClean="0"/>
              <a:t>创新点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、静态分析用于提醒库更新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diff</a:t>
            </a:r>
            <a:r>
              <a:rPr lang="zh-CN" altLang="en-US" dirty="0" smtClean="0"/>
              <a:t>查询可以在线性时间内完成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、做了个实证分析证明了有版本违反了</a:t>
            </a:r>
            <a:r>
              <a:rPr lang="en-US" altLang="zh-CN" dirty="0" err="1" smtClean="0"/>
              <a:t>SemVer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0717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899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在计算</a:t>
            </a:r>
            <a:r>
              <a:rPr lang="en-US" altLang="zh-CN" dirty="0" smtClean="0"/>
              <a:t>diff</a:t>
            </a:r>
            <a:r>
              <a:rPr lang="zh-CN" altLang="en-US" dirty="0" smtClean="0"/>
              <a:t>的过程中，每次都需要构建一个调用图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087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我们的方法是在仅连续的库版本之间预先计算</a:t>
            </a:r>
            <a:r>
              <a:rPr lang="en-US" altLang="zh-CN" dirty="0" smtClean="0"/>
              <a:t>diffs</a:t>
            </a:r>
            <a:r>
              <a:rPr lang="zh-CN" altLang="en-US" dirty="0" smtClean="0"/>
              <a:t>，然后组合各个</a:t>
            </a:r>
            <a:r>
              <a:rPr lang="en-US" altLang="zh-CN" dirty="0" smtClean="0"/>
              <a:t>diffs</a:t>
            </a:r>
            <a:r>
              <a:rPr lang="zh-CN" altLang="en-US" dirty="0" smtClean="0"/>
              <a:t>以导出任意版本间的</a:t>
            </a:r>
            <a:r>
              <a:rPr lang="en-US" altLang="zh-CN" dirty="0" smtClean="0"/>
              <a:t>diffs</a:t>
            </a:r>
            <a:r>
              <a:rPr lang="zh-CN" altLang="en-US" dirty="0" smtClean="0"/>
              <a:t>。 这实现了良好的平衡，需要线性的空间并且在实践中足够快地运行。</a:t>
            </a:r>
            <a:endParaRPr lang="en-US" altLang="zh-CN" dirty="0" smtClean="0"/>
          </a:p>
          <a:p>
            <a:r>
              <a:rPr lang="en-US" altLang="zh-CN" dirty="0" smtClean="0"/>
              <a:t>Diff</a:t>
            </a:r>
            <a:r>
              <a:rPr lang="zh-CN" altLang="en-US" dirty="0" smtClean="0"/>
              <a:t>复合，例如</a:t>
            </a:r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 Insert Delete = Missing</a:t>
            </a:r>
            <a:b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 Delete Insert = Change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zh-CN" altLang="en-US" dirty="0" smtClean="0"/>
              <a:t>这种形式（粒度是</a:t>
            </a:r>
            <a:r>
              <a:rPr lang="en-US" altLang="zh-CN" dirty="0" smtClean="0"/>
              <a:t>method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5416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then use diﬀs to </a:t>
            </a:r>
            <a:r>
              <a:rPr lang="en-US" altLang="zh-CN" sz="1200" b="0" i="0" kern="120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suggest upgrades and determine if they induce</a:t>
            </a:r>
            <a:r>
              <a:rPr lang="en-US" altLang="zh-CN" sz="1200" b="0" i="0" kern="1200" baseline="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breaking changes</a:t>
            </a:r>
          </a:p>
          <a:p>
            <a:r>
              <a:rPr lang="zh-CN" altLang="en-US" sz="1200" b="0" i="0" kern="120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从专有漏洞数据库中获取一个库中脆弱的版本，然后提醒更新库（找到不会造成漏洞的库）</a:t>
            </a:r>
            <a:endParaRPr lang="en-US" altLang="zh-CN" sz="1200" b="0" i="0" kern="1200" dirty="0" smtClean="0">
              <a:solidFill>
                <a:schemeClr val="accent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如果我没有理解错，意思就是通过（用户的调用图）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来检查一个库的更新是否存在问题</a:t>
            </a:r>
            <a:r>
              <a:rPr lang="zh-CN" altLang="en-US" dirty="0" smtClean="0"/>
              <a:t>，最后生成一个类似于此的补丁文件，标记涉及到的版本等信息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8685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72% of libraries violate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SemVer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version: the actual numbers are 80% 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RubyGems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67% (Maven Central), and 82% 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PyPI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In addition, on average, 26%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all library versions are in violation, actual numbers being 31%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RubyGems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24% (Maven Central), and 31% 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PyPI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zh-CN" altLang="en-US" dirty="0" smtClean="0"/>
              <a:t>首先讨论了语义版本控制被违反的情况，指出了未表明</a:t>
            </a:r>
            <a:r>
              <a:rPr lang="en-US" altLang="zh-CN" dirty="0" smtClean="0"/>
              <a:t>breaking API</a:t>
            </a:r>
            <a:r>
              <a:rPr lang="zh-CN" altLang="en-US" dirty="0" smtClean="0"/>
              <a:t>的版本</a:t>
            </a:r>
            <a:endParaRPr lang="en-US" altLang="zh-CN" dirty="0" smtClean="0"/>
          </a:p>
          <a:p>
            <a:r>
              <a:rPr lang="zh-CN" altLang="en-US" dirty="0" smtClean="0"/>
              <a:t>如在</a:t>
            </a:r>
            <a:r>
              <a:rPr lang="en-US" altLang="zh-CN" dirty="0" smtClean="0"/>
              <a:t>2.3.0</a:t>
            </a:r>
            <a:r>
              <a:rPr lang="zh-CN" altLang="en-US" dirty="0" smtClean="0"/>
              <a:t>和</a:t>
            </a:r>
            <a:r>
              <a:rPr lang="en-US" altLang="zh-CN" dirty="0" smtClean="0"/>
              <a:t>2.4.0</a:t>
            </a:r>
            <a:r>
              <a:rPr lang="zh-CN" altLang="en-US" dirty="0" smtClean="0"/>
              <a:t>版本之间被删掉了一个</a:t>
            </a:r>
            <a:r>
              <a:rPr lang="en-US" altLang="zh-CN" dirty="0" err="1" smtClean="0"/>
              <a:t>request.structures.Iteratorxy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3687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然后检查了开源项目的</a:t>
            </a:r>
            <a:r>
              <a:rPr lang="en-US" altLang="zh-CN" dirty="0" smtClean="0"/>
              <a:t>API </a:t>
            </a:r>
            <a:r>
              <a:rPr lang="zh-CN" altLang="en-US" dirty="0" smtClean="0"/>
              <a:t>不兼容问题，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中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 (18.7%) are non-breaking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dirty="0" smtClean="0"/>
              <a:t> </a:t>
            </a:r>
            <a:r>
              <a:rPr lang="zh-CN" altLang="en-US" dirty="0" smtClean="0"/>
              <a:t>其它语言的结果不一定可信，因为调用图的构建有问题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它的用处和不足：作为漏洞修复工具，仅仅静态可能是不够的，可以加上动态的方法</a:t>
            </a:r>
            <a:endParaRPr lang="en-US" altLang="zh-CN" dirty="0" smtClean="0"/>
          </a:p>
          <a:p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Limitations of Static Analysis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Unsupported Language Features.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 Diﬀs in Isolation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Insuﬀicient Semantic Information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833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84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3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4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05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758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222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00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50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3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57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60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47714-66FC-4CB8-89F8-9FC375975CD4}" type="datetimeFigureOut">
              <a:rPr lang="zh-CN" altLang="en-US" smtClean="0"/>
              <a:t>2019/3/30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50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Statically Checking Web API Requests in </a:t>
            </a:r>
            <a:r>
              <a:rPr lang="en-US" altLang="zh-CN" dirty="0" smtClean="0"/>
              <a:t>JavaScript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altLang="zh-CN" dirty="0" smtClean="0"/>
          </a:p>
          <a:p>
            <a:pPr algn="r"/>
            <a:endParaRPr lang="en-US" altLang="zh-CN" dirty="0"/>
          </a:p>
          <a:p>
            <a:pPr algn="r"/>
            <a:r>
              <a:rPr lang="zh-CN" altLang="en-US" dirty="0" smtClean="0"/>
              <a:t>报告人：曹雨露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547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1825624"/>
            <a:ext cx="6232451" cy="447443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Request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URL </a:t>
            </a:r>
            <a:r>
              <a:rPr lang="en-US" altLang="zh-CN" dirty="0"/>
              <a:t>string, HTTP method, and the corresponding 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（</a:t>
            </a:r>
            <a:r>
              <a:rPr lang="en-US" altLang="zh-CN" dirty="0" smtClean="0"/>
              <a:t>payload and query data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 smtClean="0"/>
              <a:t>论文的</a:t>
            </a:r>
            <a:r>
              <a:rPr lang="zh-CN" altLang="en-US" dirty="0"/>
              <a:t>工作</a:t>
            </a:r>
            <a:r>
              <a:rPr lang="zh-CN" altLang="en-US" dirty="0" smtClean="0"/>
              <a:t>就是检查代码</a:t>
            </a:r>
            <a:r>
              <a:rPr lang="zh-CN" altLang="en-US" dirty="0"/>
              <a:t>中的</a:t>
            </a:r>
            <a:r>
              <a:rPr lang="en-US" altLang="zh-CN" dirty="0"/>
              <a:t>Web </a:t>
            </a:r>
            <a:r>
              <a:rPr lang="en-US" altLang="zh-CN" dirty="0" smtClean="0"/>
              <a:t>API</a:t>
            </a:r>
            <a:r>
              <a:rPr lang="zh-CN" altLang="en-US" dirty="0" smtClean="0"/>
              <a:t>调用是否符合公开的</a:t>
            </a:r>
            <a:r>
              <a:rPr lang="en-US" altLang="zh-CN" dirty="0" smtClean="0"/>
              <a:t>API</a:t>
            </a:r>
            <a:r>
              <a:rPr lang="zh-CN" altLang="en-US" dirty="0"/>
              <a:t>规范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8" name="内容占位符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161" y="1629142"/>
            <a:ext cx="4152900" cy="467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3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38200" y="1855177"/>
            <a:ext cx="60989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an </a:t>
            </a:r>
            <a:r>
              <a:rPr lang="en-US" altLang="zh-CN" dirty="0" smtClean="0"/>
              <a:t>inter-procedural </a:t>
            </a:r>
            <a:r>
              <a:rPr lang="en-US" altLang="zh-CN" dirty="0"/>
              <a:t>static analysis to extract URL and input </a:t>
            </a:r>
            <a:r>
              <a:rPr lang="en-US" altLang="zh-CN" dirty="0" smtClean="0"/>
              <a:t>strings from </a:t>
            </a:r>
            <a:r>
              <a:rPr lang="en-US" altLang="zh-CN" dirty="0"/>
              <a:t>a web API request in JavaScript </a:t>
            </a:r>
            <a:r>
              <a:rPr lang="en-US" altLang="zh-CN" dirty="0" smtClean="0"/>
              <a:t>code.</a:t>
            </a:r>
          </a:p>
          <a:p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check </a:t>
            </a:r>
            <a:r>
              <a:rPr lang="en-US" altLang="zh-CN" dirty="0"/>
              <a:t>whether </a:t>
            </a:r>
            <a:r>
              <a:rPr lang="en-US" altLang="zh-CN" dirty="0" smtClean="0"/>
              <a:t>the extracted </a:t>
            </a:r>
            <a:r>
              <a:rPr lang="en-US" altLang="zh-CN" dirty="0"/>
              <a:t>information from the web API </a:t>
            </a:r>
            <a:r>
              <a:rPr lang="en-US" altLang="zh-CN" dirty="0" smtClean="0"/>
              <a:t>requests conforms with </a:t>
            </a:r>
            <a:r>
              <a:rPr lang="en-US" altLang="zh-CN" dirty="0"/>
              <a:t>web API </a:t>
            </a:r>
            <a:r>
              <a:rPr lang="en-US" altLang="zh-CN" dirty="0" smtClean="0"/>
              <a:t>specifications</a:t>
            </a:r>
            <a:r>
              <a:rPr lang="en-US" altLang="zh-CN" dirty="0"/>
              <a:t>.</a:t>
            </a:r>
            <a:r>
              <a:rPr lang="en-US" altLang="zh-CN" dirty="0" smtClean="0"/>
              <a:t>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4481" y="1046285"/>
            <a:ext cx="3939979" cy="499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9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2347545"/>
            <a:ext cx="10515600" cy="3829417"/>
          </a:xfrm>
        </p:spPr>
        <p:txBody>
          <a:bodyPr>
            <a:normAutofit/>
          </a:bodyPr>
          <a:lstStyle/>
          <a:p>
            <a:pPr lvl="0"/>
            <a:r>
              <a:rPr lang="en-US" altLang="zh-CN" dirty="0"/>
              <a:t>Field-based Call Graph </a:t>
            </a:r>
            <a:r>
              <a:rPr lang="en-US" altLang="zh-CN" dirty="0" smtClean="0"/>
              <a:t>Builder</a:t>
            </a:r>
          </a:p>
          <a:p>
            <a:pPr marL="0" lvl="0" indent="0">
              <a:buNone/>
            </a:pPr>
            <a:r>
              <a:rPr lang="zh-CN" altLang="en-US" dirty="0" smtClean="0"/>
              <a:t>使用</a:t>
            </a:r>
            <a:r>
              <a:rPr lang="en-US" altLang="zh-CN" dirty="0" smtClean="0"/>
              <a:t>WALA</a:t>
            </a:r>
            <a:r>
              <a:rPr lang="zh-CN" altLang="en-US" dirty="0" smtClean="0"/>
              <a:t>构建一个基于范围的调用图，将所有的函数都作为入口节点</a:t>
            </a:r>
            <a:endParaRPr lang="zh-CN" altLang="zh-CN" dirty="0"/>
          </a:p>
          <a:p>
            <a:pPr lvl="0"/>
            <a:r>
              <a:rPr lang="en-US" altLang="zh-CN" dirty="0" smtClean="0"/>
              <a:t>Web </a:t>
            </a:r>
            <a:r>
              <a:rPr lang="en-US" altLang="zh-CN" dirty="0"/>
              <a:t>Request </a:t>
            </a:r>
            <a:r>
              <a:rPr lang="en-US" altLang="zh-CN" dirty="0" smtClean="0"/>
              <a:t>Locator</a:t>
            </a:r>
            <a:endParaRPr lang="en-US" altLang="zh-CN" dirty="0"/>
          </a:p>
          <a:p>
            <a:pPr marL="0" lvl="0" indent="0">
              <a:buNone/>
            </a:pPr>
            <a:r>
              <a:rPr lang="zh-CN" altLang="en-US" dirty="0" smtClean="0"/>
              <a:t>在调用图上找到特定框架对应的</a:t>
            </a:r>
            <a:r>
              <a:rPr lang="en-US" altLang="zh-CN" dirty="0" smtClean="0"/>
              <a:t>pattern</a:t>
            </a:r>
            <a:r>
              <a:rPr lang="zh-CN" altLang="en-US" dirty="0" smtClean="0"/>
              <a:t>，以</a:t>
            </a:r>
            <a:r>
              <a:rPr lang="en-US" altLang="zh-CN" dirty="0" smtClean="0"/>
              <a:t>jQuery</a:t>
            </a:r>
            <a:r>
              <a:rPr lang="zh-CN" altLang="en-US" dirty="0" smtClean="0"/>
              <a:t>为例</a:t>
            </a:r>
            <a:r>
              <a:rPr lang="en-US" altLang="zh-CN" dirty="0" smtClean="0"/>
              <a:t>, </a:t>
            </a:r>
            <a:r>
              <a:rPr lang="zh-CN" altLang="en-US" dirty="0" smtClean="0"/>
              <a:t>类似于</a:t>
            </a:r>
            <a:r>
              <a:rPr lang="en-US" altLang="zh-CN" dirty="0" smtClean="0"/>
              <a:t>$.</a:t>
            </a:r>
            <a:r>
              <a:rPr lang="en-US" altLang="zh-CN" dirty="0"/>
              <a:t>ajax, $.get, and $.</a:t>
            </a:r>
            <a:r>
              <a:rPr lang="en-US" altLang="zh-CN" dirty="0" smtClean="0"/>
              <a:t>post</a:t>
            </a:r>
            <a:r>
              <a:rPr lang="zh-CN" altLang="en-US" dirty="0" smtClean="0"/>
              <a:t>的调用</a:t>
            </a:r>
            <a:endParaRPr lang="zh-CN" altLang="zh-CN" dirty="0"/>
          </a:p>
          <a:p>
            <a:pPr lvl="0"/>
            <a:r>
              <a:rPr lang="en-US" altLang="zh-CN" dirty="0"/>
              <a:t>Backward Slicer for Request </a:t>
            </a:r>
            <a:r>
              <a:rPr lang="en-US" altLang="zh-CN" dirty="0" smtClean="0"/>
              <a:t>Marshaling</a:t>
            </a:r>
            <a:endParaRPr lang="zh-CN" altLang="zh-CN" dirty="0"/>
          </a:p>
          <a:p>
            <a:pPr marL="0" indent="0">
              <a:buNone/>
            </a:pPr>
            <a:r>
              <a:rPr lang="zh-CN" altLang="en-US" dirty="0" smtClean="0"/>
              <a:t>找到所有的能达到该</a:t>
            </a:r>
            <a:r>
              <a:rPr lang="en-US" altLang="zh-CN" dirty="0" smtClean="0"/>
              <a:t>Web</a:t>
            </a:r>
            <a:r>
              <a:rPr lang="zh-CN" altLang="en-US" dirty="0" smtClean="0"/>
              <a:t>请求的数据流</a:t>
            </a:r>
            <a:endParaRPr lang="en-US" altLang="zh-CN" dirty="0" smtClean="0"/>
          </a:p>
          <a:p>
            <a:pPr marL="0" indent="0">
              <a:buNone/>
            </a:pPr>
            <a:endParaRPr lang="zh-CN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726" y="411651"/>
            <a:ext cx="4542857" cy="209523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2177" y="677008"/>
            <a:ext cx="4686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WEB API USAGE EXTRACTION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3984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Perform path-insensitive data flow analysis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288" y="2427410"/>
            <a:ext cx="46767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CHECKING PROCEDURE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8590" y="1783094"/>
            <a:ext cx="6424246" cy="4707061"/>
          </a:xfrm>
        </p:spPr>
        <p:txBody>
          <a:bodyPr>
            <a:normAutofit/>
          </a:bodyPr>
          <a:lstStyle/>
          <a:p>
            <a:pPr lvl="0"/>
            <a:r>
              <a:rPr lang="en-US" altLang="zh-CN" dirty="0" smtClean="0"/>
              <a:t>Checking endpoints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whether </a:t>
            </a:r>
            <a:r>
              <a:rPr lang="en-US" altLang="zh-CN" dirty="0"/>
              <a:t>any of the URLs for a given request begins with any of the base URLs of the known API specifications 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Path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the procedure attempts to match a request’s URLs to paths defined in the API </a:t>
            </a:r>
            <a:r>
              <a:rPr lang="en-US" altLang="zh-CN" dirty="0" smtClean="0"/>
              <a:t>specifications</a:t>
            </a:r>
          </a:p>
          <a:p>
            <a:pPr marL="457200" lvl="1" indent="0">
              <a:buNone/>
            </a:pPr>
            <a:r>
              <a:rPr lang="en-US" altLang="zh-CN" dirty="0" smtClean="0"/>
              <a:t>Any </a:t>
            </a:r>
            <a:r>
              <a:rPr lang="en-US" altLang="zh-CN" dirty="0"/>
              <a:t>method determined by the static analysis is checked against all methods defined in all matched specifications and all matched </a:t>
            </a:r>
            <a:r>
              <a:rPr lang="en-US" altLang="zh-CN" dirty="0" err="1" smtClean="0"/>
              <a:t>pathswhat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wa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369" y="1887171"/>
            <a:ext cx="46767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1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3754" y="1078279"/>
            <a:ext cx="7347438" cy="4777398"/>
          </a:xfrm>
        </p:spPr>
        <p:txBody>
          <a:bodyPr>
            <a:normAutofit fontScale="92500"/>
          </a:bodyPr>
          <a:lstStyle/>
          <a:p>
            <a:pPr marL="342900" lvl="1" indent="-342900">
              <a:spcBef>
                <a:spcPts val="1000"/>
              </a:spcBef>
            </a:pPr>
            <a:r>
              <a:rPr lang="en-US" altLang="zh-CN" dirty="0"/>
              <a:t>Checking request data</a:t>
            </a:r>
            <a:endParaRPr lang="en-US" altLang="zh-CN" dirty="0" smtClean="0"/>
          </a:p>
          <a:p>
            <a:pPr marL="800100" lvl="2" indent="-342900">
              <a:spcBef>
                <a:spcPts val="1000"/>
              </a:spcBef>
            </a:pPr>
            <a:r>
              <a:rPr lang="en-US" altLang="zh-CN" dirty="0" smtClean="0"/>
              <a:t>Payload </a:t>
            </a:r>
            <a:r>
              <a:rPr lang="en-US" altLang="zh-CN" dirty="0"/>
              <a:t>data</a:t>
            </a:r>
            <a:endParaRPr lang="zh-CN" altLang="zh-CN" dirty="0"/>
          </a:p>
          <a:p>
            <a:pPr marL="457200" lvl="2" indent="0">
              <a:spcBef>
                <a:spcPts val="1000"/>
              </a:spcBef>
              <a:buNone/>
            </a:pPr>
            <a:r>
              <a:rPr lang="en-US" altLang="zh-CN" dirty="0" smtClean="0"/>
              <a:t>If any </a:t>
            </a:r>
            <a:r>
              <a:rPr lang="en-US" altLang="zh-CN" dirty="0"/>
              <a:t>of the matched specifications defines a payload schema</a:t>
            </a:r>
            <a:br>
              <a:rPr lang="en-US" altLang="zh-CN" dirty="0"/>
            </a:br>
            <a:r>
              <a:rPr lang="en-US" altLang="zh-CN" dirty="0"/>
              <a:t>in any of the matched endpoints, the procedures determines if</a:t>
            </a:r>
            <a:br>
              <a:rPr lang="en-US" altLang="zh-CN" dirty="0"/>
            </a:br>
            <a:r>
              <a:rPr lang="en-US" altLang="zh-CN" dirty="0"/>
              <a:t>the payload data reported in the request information adheres</a:t>
            </a:r>
            <a:br>
              <a:rPr lang="en-US" altLang="zh-CN" dirty="0"/>
            </a:br>
            <a:r>
              <a:rPr lang="en-US" altLang="zh-CN" dirty="0"/>
              <a:t>to that schema or not </a:t>
            </a:r>
            <a:endParaRPr lang="en-US" altLang="zh-CN" dirty="0" smtClean="0"/>
          </a:p>
          <a:p>
            <a:pPr marL="800100" lvl="2" indent="-342900">
              <a:spcBef>
                <a:spcPts val="1000"/>
              </a:spcBef>
            </a:pPr>
            <a:r>
              <a:rPr lang="en-US" altLang="zh-CN" dirty="0" smtClean="0"/>
              <a:t>Query data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To </a:t>
            </a:r>
            <a:r>
              <a:rPr lang="en-US" altLang="zh-CN" dirty="0"/>
              <a:t>check the query </a:t>
            </a:r>
            <a:r>
              <a:rPr lang="en-US" altLang="zh-CN" dirty="0" smtClean="0"/>
              <a:t>parameters, the </a:t>
            </a:r>
            <a:r>
              <a:rPr lang="en-US" altLang="zh-CN" dirty="0"/>
              <a:t>procedure parses the query strings of all URLs reported </a:t>
            </a:r>
            <a:r>
              <a:rPr lang="en-US" altLang="zh-CN" dirty="0" smtClean="0"/>
              <a:t>for a </a:t>
            </a:r>
            <a:r>
              <a:rPr lang="en-US" altLang="zh-CN" dirty="0"/>
              <a:t>request. It then checks whether any of the found parameter</a:t>
            </a:r>
            <a:br>
              <a:rPr lang="en-US" altLang="zh-CN" dirty="0"/>
            </a:br>
            <a:r>
              <a:rPr lang="en-US" altLang="zh-CN" dirty="0"/>
              <a:t>sets matches the parameter definitions found in any of </a:t>
            </a:r>
            <a:r>
              <a:rPr lang="en-US" altLang="zh-CN" dirty="0" smtClean="0"/>
              <a:t>the endpoint </a:t>
            </a:r>
            <a:r>
              <a:rPr lang="en-US" altLang="zh-CN" dirty="0"/>
              <a:t>definitions matched for the request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345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RQ1</a:t>
            </a:r>
            <a:r>
              <a:rPr lang="en-US" altLang="zh-CN" dirty="0"/>
              <a:t>: Given JavaScript code describing a web API request, to what degree can the analysis correctly </a:t>
            </a:r>
            <a:r>
              <a:rPr lang="en-US" altLang="zh-CN" dirty="0" smtClean="0"/>
              <a:t>determine whether </a:t>
            </a:r>
            <a:r>
              <a:rPr lang="en-US" altLang="zh-CN" dirty="0"/>
              <a:t>the request is consistent with an endpoint </a:t>
            </a:r>
            <a:r>
              <a:rPr lang="en-US" altLang="zh-CN" dirty="0" smtClean="0"/>
              <a:t>in given </a:t>
            </a:r>
            <a:r>
              <a:rPr lang="en-US" altLang="zh-CN" dirty="0"/>
              <a:t>Swagger specifications? </a:t>
            </a:r>
            <a:endParaRPr lang="en-US" altLang="zh-CN" dirty="0" smtClean="0"/>
          </a:p>
          <a:p>
            <a:r>
              <a:rPr lang="en-US" altLang="zh-CN" b="1" dirty="0" smtClean="0"/>
              <a:t>RQ2</a:t>
            </a:r>
            <a:r>
              <a:rPr lang="en-US" altLang="zh-CN" dirty="0"/>
              <a:t>: For a request consistent with an endpoint in </a:t>
            </a:r>
            <a:r>
              <a:rPr lang="en-US" altLang="zh-CN" dirty="0" smtClean="0"/>
              <a:t>the Swagger </a:t>
            </a:r>
            <a:r>
              <a:rPr lang="en-US" altLang="zh-CN" dirty="0"/>
              <a:t>specifications, to what degree can the </a:t>
            </a:r>
            <a:r>
              <a:rPr lang="en-US" altLang="zh-CN" dirty="0" smtClean="0"/>
              <a:t>analysis correctly </a:t>
            </a:r>
            <a:r>
              <a:rPr lang="en-US" altLang="zh-CN" dirty="0"/>
              <a:t>determine whether the request data (the </a:t>
            </a:r>
            <a:r>
              <a:rPr lang="en-US" altLang="zh-CN" dirty="0" smtClean="0"/>
              <a:t>payload and </a:t>
            </a:r>
            <a:r>
              <a:rPr lang="en-US" altLang="zh-CN" dirty="0"/>
              <a:t>the query parameters) is consistent with specifications?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874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Collection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API specifications from APIs </a:t>
            </a:r>
            <a:r>
              <a:rPr lang="en-US" altLang="zh-CN" dirty="0" smtClean="0"/>
              <a:t>Guru</a:t>
            </a:r>
          </a:p>
          <a:p>
            <a:pPr marL="0" indent="0">
              <a:buNone/>
            </a:pPr>
            <a:r>
              <a:rPr lang="en-US" altLang="zh-CN" dirty="0"/>
              <a:t>These specifications act as a source of </a:t>
            </a:r>
            <a:r>
              <a:rPr lang="en-US" altLang="zh-CN" dirty="0">
                <a:solidFill>
                  <a:srgbClr val="FF0000"/>
                </a:solidFill>
              </a:rPr>
              <a:t>ground truth </a:t>
            </a:r>
            <a:r>
              <a:rPr lang="en-US" altLang="zh-CN" dirty="0"/>
              <a:t>to </a:t>
            </a:r>
            <a:r>
              <a:rPr lang="en-US" altLang="zh-CN" dirty="0" smtClean="0"/>
              <a:t>indicate whether requests </a:t>
            </a:r>
            <a:r>
              <a:rPr lang="en-US" altLang="zh-CN" dirty="0"/>
              <a:t>in the source code invoke the API </a:t>
            </a:r>
            <a:r>
              <a:rPr lang="en-US" altLang="zh-CN" dirty="0" smtClean="0"/>
              <a:t>correctly</a:t>
            </a:r>
            <a:r>
              <a:rPr lang="en-US" altLang="zh-CN" dirty="0"/>
              <a:t>.</a:t>
            </a:r>
            <a:r>
              <a:rPr lang="en-US" altLang="zh-CN" dirty="0" smtClean="0"/>
              <a:t> </a:t>
            </a:r>
          </a:p>
          <a:p>
            <a:r>
              <a:rPr lang="en-US" altLang="zh-CN" dirty="0"/>
              <a:t>JavaScript files from </a:t>
            </a:r>
            <a:r>
              <a:rPr lang="en-US" altLang="zh-CN" dirty="0" smtClean="0"/>
              <a:t>GitHub</a:t>
            </a:r>
          </a:p>
          <a:p>
            <a:pPr marL="0" indent="0">
              <a:buNone/>
            </a:pPr>
            <a:r>
              <a:rPr lang="en-US" altLang="zh-CN" dirty="0"/>
              <a:t>From these queries, </a:t>
            </a:r>
            <a:r>
              <a:rPr lang="en-US" altLang="zh-CN" dirty="0" smtClean="0"/>
              <a:t>we obtained </a:t>
            </a:r>
            <a:r>
              <a:rPr lang="en-US" altLang="zh-CN" dirty="0"/>
              <a:t>6746 JavaScript files, from which we extracted </a:t>
            </a:r>
            <a:r>
              <a:rPr lang="en-US" altLang="zh-CN" dirty="0" smtClean="0"/>
              <a:t>19668 web </a:t>
            </a:r>
            <a:r>
              <a:rPr lang="en-US" altLang="zh-CN" dirty="0"/>
              <a:t>API requests.</a:t>
            </a:r>
            <a:br>
              <a:rPr lang="en-US" altLang="zh-CN" dirty="0"/>
            </a:br>
            <a:r>
              <a:rPr lang="en-US" altLang="zh-CN" dirty="0"/>
              <a:t>For this evaluation, we focused on the 6575 requests that</a:t>
            </a:r>
            <a:br>
              <a:rPr lang="en-US" altLang="zh-CN" dirty="0"/>
            </a:br>
            <a:r>
              <a:rPr lang="en-US" altLang="zh-CN" dirty="0"/>
              <a:t>matched a specification (i.e., a request URL matching the</a:t>
            </a:r>
            <a:br>
              <a:rPr lang="en-US" altLang="zh-CN" dirty="0"/>
            </a:br>
            <a:r>
              <a:rPr lang="en-US" altLang="zh-CN" dirty="0"/>
              <a:t>base URL of a specification, including matching the schemes,</a:t>
            </a:r>
            <a:br>
              <a:rPr lang="en-US" altLang="zh-CN" dirty="0"/>
            </a:br>
            <a:r>
              <a:rPr lang="en-US" altLang="zh-CN" dirty="0"/>
              <a:t>domain, and the </a:t>
            </a:r>
            <a:r>
              <a:rPr lang="en-US" altLang="zh-CN" dirty="0" err="1"/>
              <a:t>basepath</a:t>
            </a:r>
            <a:r>
              <a:rPr lang="en-US" altLang="zh-CN" dirty="0"/>
              <a:t>) </a:t>
            </a:r>
            <a:r>
              <a:rPr lang="en-US" altLang="zh-CN" dirty="0" smtClean="0"/>
              <a:t>.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178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Endpoint Results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6169269" cy="422250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Method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 </a:t>
            </a:r>
            <a:r>
              <a:rPr lang="en-US" altLang="zh-CN" dirty="0"/>
              <a:t>request is </a:t>
            </a:r>
            <a:r>
              <a:rPr lang="en-US" altLang="zh-CN" dirty="0" smtClean="0"/>
              <a:t>a valid </a:t>
            </a:r>
            <a:r>
              <a:rPr lang="en-US" altLang="zh-CN" dirty="0"/>
              <a:t>endpoint when it satisfies two conditions: (1) the </a:t>
            </a:r>
            <a:r>
              <a:rPr lang="en-US" altLang="zh-CN" dirty="0" smtClean="0"/>
              <a:t>URL matches </a:t>
            </a:r>
            <a:r>
              <a:rPr lang="en-US" altLang="zh-CN" dirty="0"/>
              <a:t>an endpoint path, which can contain </a:t>
            </a:r>
            <a:r>
              <a:rPr lang="en-US" altLang="zh-CN" dirty="0" smtClean="0"/>
              <a:t>path variables(e.g</a:t>
            </a:r>
            <a:r>
              <a:rPr lang="en-US" altLang="zh-CN" dirty="0"/>
              <a:t>., /repos/</a:t>
            </a:r>
            <a:r>
              <a:rPr lang="en-US" altLang="zh-CN" i="1" dirty="0"/>
              <a:t>{</a:t>
            </a:r>
            <a:r>
              <a:rPr lang="en-US" altLang="zh-CN" dirty="0"/>
              <a:t>owner</a:t>
            </a:r>
            <a:r>
              <a:rPr lang="en-US" altLang="zh-CN" i="1" dirty="0"/>
              <a:t>}</a:t>
            </a:r>
            <a:r>
              <a:rPr lang="en-US" altLang="zh-CN" dirty="0"/>
              <a:t>/</a:t>
            </a:r>
            <a:r>
              <a:rPr lang="en-US" altLang="zh-CN" i="1" dirty="0"/>
              <a:t>{</a:t>
            </a:r>
            <a:r>
              <a:rPr lang="en-US" altLang="zh-CN" dirty="0"/>
              <a:t>repo</a:t>
            </a:r>
            <a:r>
              <a:rPr lang="en-US" altLang="zh-CN" i="1" dirty="0"/>
              <a:t>}</a:t>
            </a:r>
            <a:r>
              <a:rPr lang="en-US" altLang="zh-CN" dirty="0"/>
              <a:t>) and (2) the HTTP </a:t>
            </a:r>
            <a:r>
              <a:rPr lang="en-US" altLang="zh-CN" dirty="0" smtClean="0"/>
              <a:t>method matches </a:t>
            </a:r>
            <a:r>
              <a:rPr lang="en-US" altLang="zh-CN" dirty="0"/>
              <a:t>(e.g., GET). </a:t>
            </a:r>
            <a:br>
              <a:rPr lang="en-US" altLang="zh-CN" dirty="0"/>
            </a:b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96</a:t>
            </a:r>
            <a:r>
              <a:rPr lang="en-US" altLang="zh-CN" i="1" dirty="0" smtClean="0"/>
              <a:t>.</a:t>
            </a:r>
            <a:r>
              <a:rPr lang="en-US" altLang="zh-CN" dirty="0" smtClean="0"/>
              <a:t>0</a:t>
            </a:r>
            <a:r>
              <a:rPr lang="en-US" altLang="zh-CN" dirty="0"/>
              <a:t>% for endpoint checking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469" y="1690688"/>
            <a:ext cx="47720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2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796516" cy="46389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True Negatives </a:t>
            </a:r>
            <a:endParaRPr lang="en-US" altLang="zh-CN" dirty="0" smtClean="0"/>
          </a:p>
          <a:p>
            <a:pPr lvl="1"/>
            <a:r>
              <a:rPr lang="en-US" altLang="zh-CN" dirty="0"/>
              <a:t>definite or potential errors in the code 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en-US" altLang="zh-CN" dirty="0"/>
              <a:t>Deprecated APIs </a:t>
            </a:r>
            <a:br>
              <a:rPr lang="en-US" altLang="zh-CN" dirty="0"/>
            </a:br>
            <a:r>
              <a:rPr lang="en-US" altLang="zh-CN" dirty="0"/>
              <a:t>Documented Programming Errors </a:t>
            </a:r>
            <a:br>
              <a:rPr lang="en-US" altLang="zh-CN" dirty="0"/>
            </a:br>
            <a:r>
              <a:rPr lang="en-US" altLang="zh-CN" dirty="0"/>
              <a:t>Typographical </a:t>
            </a:r>
            <a:r>
              <a:rPr lang="en-US" altLang="zh-CN" dirty="0" smtClean="0"/>
              <a:t>errors</a:t>
            </a:r>
          </a:p>
          <a:p>
            <a:pPr lvl="1"/>
            <a:r>
              <a:rPr lang="en-US" altLang="zh-CN" dirty="0" smtClean="0"/>
              <a:t>Erroneous and </a:t>
            </a:r>
            <a:r>
              <a:rPr lang="en-US" altLang="zh-CN" dirty="0"/>
              <a:t>incomplete Swagger specification </a:t>
            </a:r>
            <a:r>
              <a:rPr lang="en-US" altLang="zh-CN" dirty="0" smtClean="0"/>
              <a:t> </a:t>
            </a:r>
          </a:p>
          <a:p>
            <a:pPr marL="914400" lvl="2" indent="0">
              <a:buNone/>
            </a:pPr>
            <a:r>
              <a:rPr lang="en-US" altLang="zh-CN" dirty="0" smtClean="0"/>
              <a:t>Errors </a:t>
            </a:r>
            <a:r>
              <a:rPr lang="en-US" altLang="zh-CN" dirty="0"/>
              <a:t>in Swagger specifications </a:t>
            </a:r>
            <a:br>
              <a:rPr lang="en-US" altLang="zh-CN" dirty="0"/>
            </a:br>
            <a:r>
              <a:rPr lang="en-US" altLang="zh-CN" dirty="0"/>
              <a:t>Missing endpoints in Swagger specifications </a:t>
            </a:r>
            <a:br>
              <a:rPr lang="en-US" altLang="zh-CN" dirty="0"/>
            </a:br>
            <a:r>
              <a:rPr lang="en-US" altLang="zh-CN" dirty="0"/>
              <a:t>Missing authorization URLs in Swagger specifications </a:t>
            </a:r>
          </a:p>
          <a:p>
            <a:r>
              <a:rPr lang="en-US" altLang="zh-CN" dirty="0" smtClean="0"/>
              <a:t>False Positives</a:t>
            </a:r>
          </a:p>
          <a:p>
            <a:pPr lvl="1"/>
            <a:r>
              <a:rPr lang="en-US" altLang="zh-CN" dirty="0" smtClean="0"/>
              <a:t>Static analysis</a:t>
            </a:r>
          </a:p>
          <a:p>
            <a:pPr marL="914400" lvl="2" indent="0">
              <a:buNone/>
            </a:pPr>
            <a:r>
              <a:rPr lang="en-US" altLang="zh-CN" dirty="0"/>
              <a:t>Limitation of the analysis scope </a:t>
            </a:r>
            <a:br>
              <a:rPr lang="en-US" altLang="zh-CN" dirty="0"/>
            </a:br>
            <a:r>
              <a:rPr lang="en-US" altLang="zh-CN" dirty="0"/>
              <a:t>Handling string library functions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Checking procedure</a:t>
            </a:r>
          </a:p>
          <a:p>
            <a:pPr marL="914400" lvl="2" indent="0">
              <a:buNone/>
            </a:pPr>
            <a:r>
              <a:rPr lang="en-US" altLang="zh-CN" dirty="0"/>
              <a:t>Conservative Matching </a:t>
            </a:r>
            <a:br>
              <a:rPr lang="en-US" altLang="zh-CN" dirty="0"/>
            </a:br>
            <a:r>
              <a:rPr lang="en-US" altLang="zh-CN" dirty="0"/>
              <a:t>Missing authorization URLs 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451" y="1825625"/>
            <a:ext cx="47720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22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Payload Data Results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Method</a:t>
            </a:r>
            <a:r>
              <a:rPr lang="zh-CN" altLang="en-US" dirty="0" smtClean="0"/>
              <a:t>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87</a:t>
            </a:r>
            <a:r>
              <a:rPr lang="en-US" altLang="zh-CN" i="1" dirty="0" smtClean="0"/>
              <a:t>.</a:t>
            </a:r>
            <a:r>
              <a:rPr lang="en-US" altLang="zh-CN" dirty="0" smtClean="0"/>
              <a:t>9</a:t>
            </a:r>
            <a:r>
              <a:rPr lang="en-US" altLang="zh-CN" dirty="0"/>
              <a:t>% for payload </a:t>
            </a:r>
            <a:r>
              <a:rPr lang="en-US" altLang="zh-CN" dirty="0" smtClean="0"/>
              <a:t>data checking </a:t>
            </a:r>
            <a:endParaRPr lang="en-US" altLang="zh-CN" dirty="0"/>
          </a:p>
          <a:p>
            <a:r>
              <a:rPr lang="en-US" altLang="zh-CN" dirty="0" smtClean="0"/>
              <a:t>True </a:t>
            </a:r>
            <a:r>
              <a:rPr lang="en-US" altLang="zh-CN" dirty="0"/>
              <a:t>Negatives </a:t>
            </a:r>
            <a:endParaRPr lang="en-US" altLang="zh-CN" dirty="0" smtClean="0"/>
          </a:p>
          <a:p>
            <a:r>
              <a:rPr lang="en-US" altLang="zh-CN" dirty="0" smtClean="0"/>
              <a:t>False </a:t>
            </a:r>
            <a:r>
              <a:rPr lang="en-US" altLang="zh-CN" dirty="0"/>
              <a:t>Positives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675" y="1583588"/>
            <a:ext cx="48006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2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Query Parameter Results 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85085" y="1817504"/>
            <a:ext cx="4800600" cy="40862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0240" y="2105247"/>
            <a:ext cx="593296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Method </a:t>
            </a:r>
          </a:p>
          <a:p>
            <a:endParaRPr lang="en-US" altLang="zh-CN" sz="2800" dirty="0" smtClean="0"/>
          </a:p>
          <a:p>
            <a:r>
              <a:rPr lang="en-US" altLang="zh-CN" sz="2800" dirty="0" smtClean="0"/>
              <a:t>99</a:t>
            </a:r>
            <a:r>
              <a:rPr lang="en-US" altLang="zh-CN" sz="2800" i="1" dirty="0" smtClean="0"/>
              <a:t>.</a:t>
            </a:r>
            <a:r>
              <a:rPr lang="en-US" altLang="zh-CN" sz="2800" dirty="0" smtClean="0"/>
              <a:t>9</a:t>
            </a:r>
            <a:r>
              <a:rPr lang="en-US" altLang="zh-CN" sz="2800" dirty="0"/>
              <a:t>% for query parameter checking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True </a:t>
            </a:r>
            <a:r>
              <a:rPr lang="en-US" altLang="zh-CN" sz="2800" dirty="0"/>
              <a:t>Negatives </a:t>
            </a:r>
          </a:p>
          <a:p>
            <a:r>
              <a:rPr lang="en-US" altLang="zh-CN" sz="2800" dirty="0" smtClean="0"/>
              <a:t>Errors </a:t>
            </a:r>
            <a:r>
              <a:rPr lang="en-US" altLang="zh-CN" sz="2800" dirty="0"/>
              <a:t>in the </a:t>
            </a:r>
            <a:r>
              <a:rPr lang="en-US" altLang="zh-CN" sz="2800" dirty="0" smtClean="0"/>
              <a:t>specification</a:t>
            </a:r>
          </a:p>
          <a:p>
            <a:r>
              <a:rPr lang="en-US" altLang="zh-CN" sz="2800" dirty="0" smtClean="0"/>
              <a:t>Errors </a:t>
            </a:r>
            <a:r>
              <a:rPr lang="en-US" altLang="zh-CN" sz="2800" dirty="0"/>
              <a:t>in the </a:t>
            </a:r>
            <a:r>
              <a:rPr lang="en-US" altLang="zh-CN" sz="2800" dirty="0" smtClean="0"/>
              <a:t>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False Positives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495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Future work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this approach can be integrated with existing </a:t>
            </a:r>
            <a:r>
              <a:rPr lang="en-US" altLang="zh-CN" dirty="0" smtClean="0"/>
              <a:t>tools that </a:t>
            </a:r>
            <a:r>
              <a:rPr lang="en-US" altLang="zh-CN" dirty="0"/>
              <a:t>support developers in using web </a:t>
            </a:r>
            <a:r>
              <a:rPr lang="en-US" altLang="zh-CN" dirty="0" smtClean="0"/>
              <a:t>APIs</a:t>
            </a:r>
            <a:r>
              <a:rPr lang="en-US" altLang="zh-CN" dirty="0"/>
              <a:t>.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234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7839" y="744279"/>
            <a:ext cx="11431770" cy="3944679"/>
          </a:xfrm>
        </p:spPr>
        <p:txBody>
          <a:bodyPr>
            <a:noAutofit/>
          </a:bodyPr>
          <a:lstStyle/>
          <a:p>
            <a:pPr algn="ctr"/>
            <a:r>
              <a:rPr lang="en-US" altLang="zh-CN" sz="5400" dirty="0"/>
              <a:t>Revamping JavaScript Static Analysis via Localization </a:t>
            </a:r>
            <a:r>
              <a:rPr lang="en-US" altLang="zh-CN" sz="5400" dirty="0" smtClean="0"/>
              <a:t>and Remediation </a:t>
            </a:r>
            <a:r>
              <a:rPr lang="en-US" altLang="zh-CN" sz="5400" dirty="0"/>
              <a:t>of Root Causes of Imprecision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72478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Introduction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diagnosis algorithm is applied to trace this “</a:t>
            </a:r>
            <a:r>
              <a:rPr lang="en-US" altLang="zh-CN" dirty="0" err="1"/>
              <a:t>bad”behavior</a:t>
            </a:r>
            <a:r>
              <a:rPr lang="en-US" altLang="zh-CN" dirty="0"/>
              <a:t> back to its root causes linked to specific functions. By applying a well-chosen context sensitivity policy to use on these functions during a fresh analysis pass, the anomalous behavior may be </a:t>
            </a:r>
            <a:r>
              <a:rPr lang="en-US" altLang="zh-CN" dirty="0" err="1"/>
              <a:t>circumventable</a:t>
            </a:r>
            <a:r>
              <a:rPr lang="en-US" altLang="zh-CN" dirty="0"/>
              <a:t> 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816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Motivation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43725" y="1027906"/>
            <a:ext cx="4410075" cy="2314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18437" y="2647507"/>
            <a:ext cx="4986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existence of such “jumps” indicates that the overly-approximated results are frequently</a:t>
            </a:r>
            <a:br>
              <a:rPr lang="en-US" altLang="zh-CN" dirty="0"/>
            </a:br>
            <a:r>
              <a:rPr lang="en-US" altLang="zh-CN" dirty="0"/>
              <a:t>propagated, resulting in significant overall precision </a:t>
            </a:r>
            <a:r>
              <a:rPr lang="en-US" altLang="zh-CN" dirty="0" smtClean="0"/>
              <a:t>loss.</a:t>
            </a:r>
          </a:p>
          <a:p>
            <a:endParaRPr lang="en-US" altLang="zh-CN" dirty="0"/>
          </a:p>
          <a:p>
            <a:r>
              <a:rPr lang="en-US" altLang="zh-CN" dirty="0"/>
              <a:t>These results motivated us to design an automated approach to identify root causes of imprecision via the differences in static analysis behavior 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25" y="3546016"/>
            <a:ext cx="44481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8054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8373" y="637751"/>
            <a:ext cx="4924425" cy="2771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3095059"/>
            <a:ext cx="50841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Intuitively, an anomaly is flagged if a given variable or reference property, collectively referred to as a program pointer, is associated with a large points-to </a:t>
            </a:r>
            <a:r>
              <a:rPr lang="en-US" altLang="zh-CN" dirty="0" err="1" smtClean="0"/>
              <a:t>set,and</a:t>
            </a:r>
            <a:r>
              <a:rPr lang="en-US" altLang="zh-CN" dirty="0" smtClean="0"/>
              <a:t> </a:t>
            </a:r>
            <a:r>
              <a:rPr lang="en-US" altLang="zh-CN" dirty="0"/>
              <a:t>the label corresponding to the pointer propagates to many other pointers within a small number of evaluations of the propagation system.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6081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3018" y="397023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Root-cause location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96076" y="1868155"/>
            <a:ext cx="4536313" cy="43513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3283" y="2238451"/>
            <a:ext cx="699622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Labeled Propagation System 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 smtClean="0"/>
              <a:t>predict(k</a:t>
            </a:r>
            <a:r>
              <a:rPr lang="en-US" altLang="zh-CN" dirty="0"/>
              <a:t>) = intercept + slope × kn. </a:t>
            </a:r>
          </a:p>
          <a:p>
            <a:r>
              <a:rPr lang="en-US" altLang="zh-CN" dirty="0" smtClean="0"/>
              <a:t>	If </a:t>
            </a:r>
            <a:r>
              <a:rPr lang="en-US" altLang="zh-CN" dirty="0"/>
              <a:t>actual(k) &gt; threshold × predict(k)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2666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2275" y="1972691"/>
            <a:ext cx="4581525" cy="1866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53" y="1890159"/>
            <a:ext cx="45529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2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Identifying Root Causes for </a:t>
            </a:r>
            <a:r>
              <a:rPr lang="en-US" altLang="zh-CN" dirty="0" smtClean="0"/>
              <a:t>Divergence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smtClean="0"/>
              <a:t>each variable </a:t>
            </a:r>
            <a:r>
              <a:rPr lang="en-US" altLang="zh-CN" dirty="0"/>
              <a:t>or reference property v, we count (</a:t>
            </a:r>
            <a:r>
              <a:rPr lang="en-US" altLang="zh-CN" dirty="0" err="1"/>
              <a:t>i</a:t>
            </a:r>
            <a:r>
              <a:rPr lang="en-US" altLang="zh-CN" dirty="0"/>
              <a:t>) its points-to</a:t>
            </a:r>
            <a:br>
              <a:rPr lang="en-US" altLang="zh-CN" dirty="0"/>
            </a:br>
            <a:r>
              <a:rPr lang="en-US" altLang="zh-CN" dirty="0"/>
              <a:t>size, |</a:t>
            </a:r>
            <a:r>
              <a:rPr lang="en-US" altLang="zh-CN" dirty="0" err="1"/>
              <a:t>Pv</a:t>
            </a:r>
            <a:r>
              <a:rPr lang="en-US" altLang="zh-CN" dirty="0"/>
              <a:t>|, as well as (ii) its number of occurrences as labels in the points-to sets of other variables and/or </a:t>
            </a:r>
            <a:r>
              <a:rPr lang="en-US" altLang="zh-CN" dirty="0" smtClean="0"/>
              <a:t>reference properties</a:t>
            </a:r>
            <a:r>
              <a:rPr lang="en-US" altLang="zh-CN" dirty="0"/>
              <a:t>, |</a:t>
            </a:r>
            <a:r>
              <a:rPr lang="en-US" altLang="zh-CN" dirty="0" err="1"/>
              <a:t>Lv</a:t>
            </a:r>
            <a:r>
              <a:rPr lang="en-US" altLang="zh-CN" dirty="0"/>
              <a:t>|. |</a:t>
            </a:r>
            <a:r>
              <a:rPr lang="en-US" altLang="zh-CN" dirty="0" err="1"/>
              <a:t>Lv</a:t>
            </a:r>
            <a:r>
              <a:rPr lang="en-US" altLang="zh-CN" dirty="0"/>
              <a:t>| measures how widely v reaches </a:t>
            </a:r>
            <a:r>
              <a:rPr lang="en-US" altLang="zh-CN" dirty="0" smtClean="0"/>
              <a:t>within the </a:t>
            </a:r>
            <a:r>
              <a:rPr lang="en-US" altLang="zh-CN" dirty="0"/>
              <a:t>propagation system, and |</a:t>
            </a:r>
            <a:r>
              <a:rPr lang="en-US" altLang="zh-CN" dirty="0" err="1"/>
              <a:t>Pv</a:t>
            </a:r>
            <a:r>
              <a:rPr lang="en-US" altLang="zh-CN" dirty="0"/>
              <a:t>| measures if the impact </a:t>
            </a:r>
            <a:r>
              <a:rPr lang="en-US" altLang="zh-CN" dirty="0" smtClean="0"/>
              <a:t>of its </a:t>
            </a:r>
            <a:r>
              <a:rPr lang="en-US" altLang="zh-CN" dirty="0"/>
              <a:t>wide reach is significant. We therefore use the </a:t>
            </a:r>
            <a:r>
              <a:rPr lang="en-US" altLang="zh-CN" dirty="0" smtClean="0"/>
              <a:t>scoring heuristic </a:t>
            </a:r>
            <a:r>
              <a:rPr lang="en-US" altLang="zh-CN" dirty="0" err="1"/>
              <a:t>Sv</a:t>
            </a:r>
            <a:r>
              <a:rPr lang="en-US" altLang="zh-CN" dirty="0"/>
              <a:t>=|</a:t>
            </a:r>
            <a:r>
              <a:rPr lang="en-US" altLang="zh-CN" dirty="0" err="1"/>
              <a:t>Pv</a:t>
            </a:r>
            <a:r>
              <a:rPr lang="en-US" altLang="zh-CN" dirty="0"/>
              <a:t>|×|</a:t>
            </a:r>
            <a:r>
              <a:rPr lang="en-US" altLang="zh-CN" dirty="0" err="1"/>
              <a:t>Lv</a:t>
            </a:r>
            <a:r>
              <a:rPr lang="en-US" altLang="zh-CN" dirty="0"/>
              <a:t>| as a measurement of the </a:t>
            </a:r>
            <a:r>
              <a:rPr lang="en-US" altLang="zh-CN" dirty="0" smtClean="0"/>
              <a:t>possibility of </a:t>
            </a:r>
            <a:r>
              <a:rPr lang="en-US" altLang="zh-CN" dirty="0"/>
              <a:t>v being a root cause (lines 11-13 in Procedure 1). </a:t>
            </a:r>
            <a:br>
              <a:rPr lang="en-US" altLang="zh-CN" dirty="0"/>
            </a:b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3172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Improvement Suggestion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7493" y="1784295"/>
            <a:ext cx="469582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27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Improvement Suggestion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82133" y="1591709"/>
            <a:ext cx="4071667" cy="43513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4791" y="2296632"/>
            <a:ext cx="62732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a program pointer r that is identified as a root</a:t>
            </a:r>
            <a:br>
              <a:rPr lang="en-US" altLang="zh-CN" dirty="0"/>
            </a:br>
            <a:r>
              <a:rPr lang="en-US" altLang="zh-CN" dirty="0"/>
              <a:t>cause, we locate its corresponding nodes via its program</a:t>
            </a:r>
            <a:br>
              <a:rPr lang="en-US" altLang="zh-CN" dirty="0"/>
            </a:br>
            <a:r>
              <a:rPr lang="en-US" altLang="zh-CN" dirty="0"/>
              <a:t>location in each dynamic points-to graph, and collect 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the number of calling contexts associated with r, </a:t>
            </a:r>
            <a:r>
              <a:rPr lang="en-US" altLang="zh-CN" dirty="0" err="1"/>
              <a:t>ccr</a:t>
            </a:r>
            <a:r>
              <a:rPr lang="en-US" altLang="zh-CN" dirty="0"/>
              <a:t>, and </a:t>
            </a:r>
            <a:br>
              <a:rPr lang="en-US" altLang="zh-CN" dirty="0"/>
            </a:br>
            <a:r>
              <a:rPr lang="en-US" altLang="zh-CN" dirty="0"/>
              <a:t>(ii) the sum of points-to sizes under all calling contexts,</a:t>
            </a:r>
            <a:br>
              <a:rPr lang="en-US" altLang="zh-CN" dirty="0"/>
            </a:br>
            <a:r>
              <a:rPr lang="en-US" altLang="zh-CN" dirty="0" err="1"/>
              <a:t>P|pr</a:t>
            </a:r>
            <a:r>
              <a:rPr lang="en-US" altLang="zh-CN" dirty="0"/>
              <a:t>|. We then count </a:t>
            </a:r>
            <a:r>
              <a:rPr lang="en-US" altLang="zh-CN" dirty="0" err="1"/>
              <a:t>ar</a:t>
            </a:r>
            <a:r>
              <a:rPr lang="en-US" altLang="zh-CN" dirty="0"/>
              <a:t> = </a:t>
            </a:r>
            <a:r>
              <a:rPr lang="en-US" altLang="zh-CN" dirty="0" err="1"/>
              <a:t>Pcc|prr</a:t>
            </a:r>
            <a:r>
              <a:rPr lang="en-US" altLang="zh-CN" dirty="0"/>
              <a:t>| , the average dynamic</a:t>
            </a:r>
            <a:br>
              <a:rPr lang="en-US" altLang="zh-CN" dirty="0"/>
            </a:br>
            <a:r>
              <a:rPr lang="en-US" altLang="zh-CN" dirty="0"/>
              <a:t>points-to size per calling context, to measure the accuracy</a:t>
            </a:r>
            <a:br>
              <a:rPr lang="en-US" altLang="zh-CN" dirty="0"/>
            </a:br>
            <a:r>
              <a:rPr lang="en-US" altLang="zh-CN" dirty="0"/>
              <a:t>of the points-to relations of v under the given context sensitivity </a:t>
            </a:r>
            <a:br>
              <a:rPr lang="en-US" altLang="zh-CN" dirty="0"/>
            </a:br>
            <a:r>
              <a:rPr lang="en-US" altLang="zh-CN" dirty="0"/>
              <a:t>The context sensitivity </a:t>
            </a:r>
            <a:r>
              <a:rPr lang="en-US" altLang="zh-CN" dirty="0" smtClean="0"/>
              <a:t>with the </a:t>
            </a:r>
            <a:r>
              <a:rPr lang="en-US" altLang="zh-CN" dirty="0"/>
              <a:t>smallest </a:t>
            </a:r>
            <a:r>
              <a:rPr lang="en-US" altLang="zh-CN" dirty="0" err="1"/>
              <a:t>ar</a:t>
            </a:r>
            <a:r>
              <a:rPr lang="en-US" altLang="zh-CN" dirty="0"/>
              <a:t> is chosen for the function that contains r </a:t>
            </a:r>
            <a:r>
              <a:rPr lang="en-US" altLang="zh-CN" dirty="0" smtClean="0"/>
              <a:t>as the </a:t>
            </a:r>
            <a:r>
              <a:rPr lang="en-US" altLang="zh-CN" dirty="0"/>
              <a:t>improvement suggestion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2371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0066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4"/>
            <a:ext cx="10921409" cy="4415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 smtClean="0"/>
              <a:t>Hypothesis </a:t>
            </a:r>
            <a:r>
              <a:rPr lang="en-US" altLang="zh-CN" b="1" dirty="0"/>
              <a:t>I</a:t>
            </a:r>
            <a:r>
              <a:rPr lang="en-US" altLang="zh-CN" dirty="0"/>
              <a:t>: The root-cause localization algorithm </a:t>
            </a:r>
            <a:r>
              <a:rPr lang="en-US" altLang="zh-CN" dirty="0" smtClean="0"/>
              <a:t>can accurately </a:t>
            </a:r>
            <a:r>
              <a:rPr lang="en-US" altLang="zh-CN" dirty="0"/>
              <a:t>identify a small set of program constructs as </a:t>
            </a:r>
            <a:r>
              <a:rPr lang="en-US" altLang="zh-CN" dirty="0" smtClean="0"/>
              <a:t>the root </a:t>
            </a:r>
            <a:r>
              <a:rPr lang="en-US" altLang="zh-CN" dirty="0"/>
              <a:t>causes </a:t>
            </a:r>
            <a:r>
              <a:rPr lang="en-US" altLang="zh-CN" dirty="0" smtClean="0"/>
              <a:t>of imprecision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b="1" dirty="0"/>
              <a:t>Hypothesis II</a:t>
            </a:r>
            <a:r>
              <a:rPr lang="en-US" altLang="zh-CN" dirty="0"/>
              <a:t>: Guided by the root causes identified </a:t>
            </a:r>
            <a:r>
              <a:rPr lang="en-US" altLang="zh-CN" dirty="0" smtClean="0"/>
              <a:t>by the </a:t>
            </a:r>
            <a:r>
              <a:rPr lang="en-US" altLang="zh-CN" dirty="0"/>
              <a:t>localization algorithm, the improvement suggestion algorithm can recommend appropriate kinds of context sensitivity to significantly improve </a:t>
            </a:r>
            <a:r>
              <a:rPr lang="en-US" altLang="zh-CN" dirty="0" smtClean="0"/>
              <a:t>the analysis </a:t>
            </a:r>
            <a:r>
              <a:rPr lang="en-US" altLang="zh-CN" dirty="0"/>
              <a:t>precision. 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1872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Benchmarks I Results 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1387" y="1974351"/>
            <a:ext cx="9201150" cy="2352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694" y="4610689"/>
            <a:ext cx="47625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85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Benchmarks II Results 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01696"/>
            <a:ext cx="93249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6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Question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是否可以推广使用（即该项目得到的结论可以推广到其它项目吗？）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5948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8393" y="1455370"/>
            <a:ext cx="10881946" cy="1806575"/>
          </a:xfrm>
        </p:spPr>
        <p:txBody>
          <a:bodyPr>
            <a:noAutofit/>
          </a:bodyPr>
          <a:lstStyle/>
          <a:p>
            <a:pPr algn="ctr"/>
            <a:r>
              <a:rPr lang="en-US" altLang="zh-CN" sz="6000" dirty="0"/>
              <a:t>Eff</a:t>
            </a:r>
            <a:r>
              <a:rPr lang="en-US" altLang="zh-CN" sz="6000" dirty="0" smtClean="0"/>
              <a:t>icient </a:t>
            </a:r>
            <a:r>
              <a:rPr lang="en-US" altLang="zh-CN" sz="6000" dirty="0"/>
              <a:t>Static Checking of Library Updates 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97155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static analysis for automatically and </a:t>
            </a:r>
            <a:r>
              <a:rPr lang="en-US" altLang="zh-CN" dirty="0" err="1" smtClean="0"/>
              <a:t>effciently</a:t>
            </a:r>
            <a:r>
              <a:rPr lang="en-US" altLang="zh-CN" dirty="0" smtClean="0"/>
              <a:t> </a:t>
            </a:r>
            <a:r>
              <a:rPr lang="en-US" altLang="zh-CN" dirty="0"/>
              <a:t>checking if a library upgrade introduces </a:t>
            </a:r>
            <a:r>
              <a:rPr lang="en-US" altLang="zh-CN" dirty="0" smtClean="0"/>
              <a:t>an API </a:t>
            </a:r>
            <a:r>
              <a:rPr lang="en-US" altLang="zh-CN" dirty="0"/>
              <a:t>compatibility (colloquially termed a </a:t>
            </a:r>
            <a:r>
              <a:rPr lang="en-US" altLang="zh-CN" i="1" dirty="0"/>
              <a:t>breaking change</a:t>
            </a:r>
            <a:r>
              <a:rPr lang="en-US" altLang="zh-CN" dirty="0"/>
              <a:t>)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588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Basic diffs</a:t>
            </a:r>
            <a:r>
              <a:rPr lang="zh-CN" altLang="en-US" dirty="0" smtClean="0"/>
              <a:t>（基础的，由代码得到的）</a:t>
            </a:r>
            <a:endParaRPr lang="en-US" altLang="zh-CN" dirty="0" smtClean="0"/>
          </a:p>
          <a:p>
            <a:r>
              <a:rPr lang="en-US" altLang="zh-CN" dirty="0"/>
              <a:t>Transitively-changed </a:t>
            </a:r>
            <a:r>
              <a:rPr lang="en-US" altLang="zh-CN" dirty="0" smtClean="0"/>
              <a:t>Methods</a:t>
            </a:r>
            <a:r>
              <a:rPr lang="zh-CN" altLang="en-US" dirty="0" smtClean="0"/>
              <a:t>（间接改变的，通过调用图）</a:t>
            </a:r>
            <a:endParaRPr lang="en-US" altLang="zh-CN" dirty="0" smtClean="0"/>
          </a:p>
          <a:p>
            <a:r>
              <a:rPr lang="en-US" altLang="zh-CN" dirty="0"/>
              <a:t>Fast </a:t>
            </a:r>
            <a:r>
              <a:rPr lang="en-US" altLang="zh-CN" dirty="0" smtClean="0"/>
              <a:t>Queries</a:t>
            </a:r>
            <a:r>
              <a:rPr lang="zh-CN" altLang="en-US" dirty="0" smtClean="0"/>
              <a:t>（构建了相邻版本的调用图）</a:t>
            </a:r>
            <a:endParaRPr lang="en-US" altLang="zh-CN" dirty="0" smtClean="0"/>
          </a:p>
          <a:p>
            <a:r>
              <a:rPr lang="en-US" altLang="zh-CN" dirty="0"/>
              <a:t>Diﬀ </a:t>
            </a:r>
            <a:r>
              <a:rPr lang="en-US" altLang="zh-CN" dirty="0" smtClean="0"/>
              <a:t>Composition</a:t>
            </a:r>
            <a:r>
              <a:rPr lang="zh-CN" altLang="en-US" dirty="0" smtClean="0"/>
              <a:t>（</a:t>
            </a:r>
            <a:r>
              <a:rPr lang="en-US" altLang="zh-CN" dirty="0" smtClean="0"/>
              <a:t>diff</a:t>
            </a:r>
            <a:r>
              <a:rPr lang="zh-CN" altLang="en-US" dirty="0" smtClean="0"/>
              <a:t>复合）</a:t>
            </a:r>
            <a:endParaRPr lang="en-US" altLang="zh-CN" dirty="0" smtClean="0"/>
          </a:p>
          <a:p>
            <a:r>
              <a:rPr lang="en-US" altLang="zh-CN" dirty="0" smtClean="0"/>
              <a:t>Conflating Operations</a:t>
            </a:r>
            <a:r>
              <a:rPr lang="zh-CN" altLang="en-US" dirty="0" smtClean="0"/>
              <a:t>（合并不改变和丢失两种情况）</a:t>
            </a:r>
            <a:endParaRPr lang="en-US" altLang="zh-CN" dirty="0" smtClean="0"/>
          </a:p>
          <a:p>
            <a:r>
              <a:rPr lang="en-US" altLang="zh-CN" dirty="0"/>
              <a:t>Suggesting </a:t>
            </a:r>
            <a:r>
              <a:rPr lang="en-US" altLang="zh-CN" dirty="0" smtClean="0"/>
              <a:t>Upgrades</a:t>
            </a:r>
            <a:r>
              <a:rPr lang="zh-CN" altLang="en-US" dirty="0" smtClean="0"/>
              <a:t>（推荐更改）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482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8468" y="971075"/>
            <a:ext cx="40527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将变化分类为</a:t>
            </a:r>
            <a:r>
              <a:rPr lang="en-US" altLang="zh-CN" b="1" dirty="0"/>
              <a:t>INSERT</a:t>
            </a:r>
            <a:r>
              <a:rPr lang="en-US" altLang="zh-CN" dirty="0"/>
              <a:t>, </a:t>
            </a:r>
            <a:r>
              <a:rPr lang="en-US" altLang="zh-CN" b="1" dirty="0"/>
              <a:t>DELETE</a:t>
            </a:r>
            <a:r>
              <a:rPr lang="en-US" altLang="zh-CN" dirty="0"/>
              <a:t>, </a:t>
            </a:r>
            <a:r>
              <a:rPr lang="en-US" altLang="zh-CN" b="1" dirty="0" smtClean="0"/>
              <a:t>CHANGE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UNCHANGED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MISSING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build call graphs of library </a:t>
            </a:r>
            <a:r>
              <a:rPr lang="en-US" altLang="zh-CN" dirty="0" smtClean="0"/>
              <a:t>programs</a:t>
            </a:r>
          </a:p>
          <a:p>
            <a:r>
              <a:rPr lang="en-US" altLang="zh-CN" dirty="0" smtClean="0"/>
              <a:t>our </a:t>
            </a:r>
            <a:r>
              <a:rPr lang="en-US" altLang="zh-CN" dirty="0"/>
              <a:t>call graph construction algorithm uses standard techniques of CHA </a:t>
            </a:r>
            <a:r>
              <a:rPr lang="en-US" altLang="zh-CN" dirty="0" smtClean="0"/>
              <a:t>and </a:t>
            </a:r>
            <a:r>
              <a:rPr lang="en-US" altLang="zh-CN" dirty="0"/>
              <a:t>VTA 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Get diff</a:t>
            </a:r>
          </a:p>
          <a:p>
            <a:r>
              <a:rPr lang="en-US" altLang="zh-CN" dirty="0" smtClean="0"/>
              <a:t>We </a:t>
            </a:r>
            <a:r>
              <a:rPr lang="en-US" altLang="zh-CN" dirty="0"/>
              <a:t>then use </a:t>
            </a:r>
            <a:r>
              <a:rPr lang="en-US" altLang="zh-CN" dirty="0" smtClean="0"/>
              <a:t>the call </a:t>
            </a:r>
            <a:r>
              <a:rPr lang="en-US" altLang="zh-CN" dirty="0"/>
              <a:t>graphs to improve diﬀs: given a method </a:t>
            </a:r>
            <a:r>
              <a:rPr lang="en-US" altLang="zh-CN" i="1" dirty="0"/>
              <a:t>m </a:t>
            </a:r>
            <a:r>
              <a:rPr lang="en-US" altLang="zh-CN" dirty="0"/>
              <a:t>whose </a:t>
            </a:r>
            <a:r>
              <a:rPr lang="en-US" altLang="zh-CN" dirty="0" err="1"/>
              <a:t>identifer</a:t>
            </a:r>
            <a:r>
              <a:rPr lang="en-US" altLang="zh-CN" dirty="0"/>
              <a:t> </a:t>
            </a:r>
            <a:r>
              <a:rPr lang="en-US" altLang="zh-CN" dirty="0" smtClean="0"/>
              <a:t>is present </a:t>
            </a:r>
            <a:r>
              <a:rPr lang="en-US" altLang="zh-CN" dirty="0"/>
              <a:t>in a diﬀ, we also include all public methods that call </a:t>
            </a:r>
            <a:r>
              <a:rPr lang="en-US" altLang="zh-CN" i="1" dirty="0" smtClean="0"/>
              <a:t>m</a:t>
            </a:r>
            <a:r>
              <a:rPr lang="en-US" altLang="zh-CN" dirty="0" smtClean="0"/>
              <a:t>.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432" y="971075"/>
            <a:ext cx="3765590" cy="547144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022" y="1287033"/>
            <a:ext cx="353377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02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23959" y="1985963"/>
            <a:ext cx="3590925" cy="3238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390525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83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latin typeface="LinLibertineTB"/>
              </a:rPr>
              <a:t>Suggesting Upgrades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727" y="2406060"/>
            <a:ext cx="46101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64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Maven Central (</a:t>
            </a:r>
            <a:r>
              <a:rPr lang="en-US" altLang="zh-CN" dirty="0" smtClean="0"/>
              <a:t>3273 libraries</a:t>
            </a:r>
            <a:r>
              <a:rPr lang="en-US" altLang="zh-CN" dirty="0"/>
              <a:t>), </a:t>
            </a:r>
            <a:r>
              <a:rPr lang="en-US" altLang="zh-CN" dirty="0" err="1"/>
              <a:t>RubyGems</a:t>
            </a:r>
            <a:r>
              <a:rPr lang="en-US" altLang="zh-CN" dirty="0"/>
              <a:t> (1332), and </a:t>
            </a:r>
            <a:r>
              <a:rPr lang="en-US" altLang="zh-CN" dirty="0" err="1"/>
              <a:t>PyPI</a:t>
            </a:r>
            <a:r>
              <a:rPr lang="en-US" altLang="zh-CN" dirty="0"/>
              <a:t> (501)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59" y="2701925"/>
            <a:ext cx="4324350" cy="3609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722" y="2613790"/>
            <a:ext cx="4590799" cy="357213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37722" y="617696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https://github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com/requests/requests/compare/v2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3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0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...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v2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4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0#diﬀ-</a:t>
            </a:r>
            <a:br>
              <a:rPr lang="en-US" altLang="zh-CN" sz="800" dirty="0">
                <a:solidFill>
                  <a:srgbClr val="005595"/>
                </a:solidFill>
                <a:latin typeface="LinLibertineT"/>
              </a:rPr>
            </a:b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2bdbe7e19f5215e8c319573cdd114f01L16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80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97944" y="2314039"/>
            <a:ext cx="4610030" cy="220479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10092" y="2314039"/>
            <a:ext cx="4132223" cy="2868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实验方法：</a:t>
            </a:r>
            <a:endParaRPr lang="en-US" altLang="zh-CN" dirty="0" smtClean="0"/>
          </a:p>
          <a:p>
            <a:r>
              <a:rPr lang="en-US" altLang="zh-CN" dirty="0"/>
              <a:t>we </a:t>
            </a:r>
            <a:r>
              <a:rPr lang="en-US" altLang="zh-CN" dirty="0" err="1"/>
              <a:t>identifed</a:t>
            </a:r>
            <a:r>
              <a:rPr lang="en-US" altLang="zh-CN" dirty="0"/>
              <a:t> 4777 unique direct dependencies, of which 246 had known vulnerabilities in our database. </a:t>
            </a:r>
          </a:p>
          <a:p>
            <a:r>
              <a:rPr lang="en-US" altLang="zh-CN" dirty="0"/>
              <a:t>We were then able to suggest upgrades for 150 of those; 36 had no safe versions to upgrade to, and 60 failed due to the errors in an earlier part of the pipeline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2040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2166</Words>
  <Application>Microsoft Office PowerPoint</Application>
  <PresentationFormat>宽屏</PresentationFormat>
  <Paragraphs>226</Paragraphs>
  <Slides>37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LinLibertineT</vt:lpstr>
      <vt:lpstr>LinLibertineTB</vt:lpstr>
      <vt:lpstr>rtxmi7</vt:lpstr>
      <vt:lpstr>等线</vt:lpstr>
      <vt:lpstr>等线 Light</vt:lpstr>
      <vt:lpstr>Arial</vt:lpstr>
      <vt:lpstr>Wingdings</vt:lpstr>
      <vt:lpstr>Office 主题​​</vt:lpstr>
      <vt:lpstr>Statically Checking Web API Requests in JavaScript</vt:lpstr>
      <vt:lpstr>INTRODUCTION </vt:lpstr>
      <vt:lpstr>Overview</vt:lpstr>
      <vt:lpstr>PowerPoint 演示文稿</vt:lpstr>
      <vt:lpstr>PowerPoint 演示文稿</vt:lpstr>
      <vt:lpstr>CHECKING PROCEDURE </vt:lpstr>
      <vt:lpstr>PowerPoint 演示文稿</vt:lpstr>
      <vt:lpstr>Evaluation</vt:lpstr>
      <vt:lpstr>Data Collection </vt:lpstr>
      <vt:lpstr>Endpoint Results </vt:lpstr>
      <vt:lpstr>PowerPoint 演示文稿</vt:lpstr>
      <vt:lpstr>Payload Data Results </vt:lpstr>
      <vt:lpstr>Query Parameter Results </vt:lpstr>
      <vt:lpstr>Future work</vt:lpstr>
      <vt:lpstr>Revamping JavaScript Static Analysis via Localization and Remediation of Root Causes of Imprecision</vt:lpstr>
      <vt:lpstr>Introduction</vt:lpstr>
      <vt:lpstr>Motivation</vt:lpstr>
      <vt:lpstr>Overview</vt:lpstr>
      <vt:lpstr>Overview</vt:lpstr>
      <vt:lpstr>Root-cause location</vt:lpstr>
      <vt:lpstr>PowerPoint 演示文稿</vt:lpstr>
      <vt:lpstr>PowerPoint 演示文稿</vt:lpstr>
      <vt:lpstr>Improvement Suggestion</vt:lpstr>
      <vt:lpstr>Improvement Suggestion</vt:lpstr>
      <vt:lpstr>Evaluation</vt:lpstr>
      <vt:lpstr>Evaluation</vt:lpstr>
      <vt:lpstr>Benchmarks I Results </vt:lpstr>
      <vt:lpstr>Benchmarks II Results </vt:lpstr>
      <vt:lpstr>Question</vt:lpstr>
      <vt:lpstr>Efficient Static Checking of Library Updates </vt:lpstr>
      <vt:lpstr>INTRODUCTION </vt:lpstr>
      <vt:lpstr>APPROACH</vt:lpstr>
      <vt:lpstr>PowerPoint 演示文稿</vt:lpstr>
      <vt:lpstr>PowerPoint 演示文稿</vt:lpstr>
      <vt:lpstr>PowerPoint 演示文稿</vt:lpstr>
      <vt:lpstr>Evaluation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njdx</dc:creator>
  <cp:lastModifiedBy>njdx</cp:lastModifiedBy>
  <cp:revision>158</cp:revision>
  <dcterms:created xsi:type="dcterms:W3CDTF">2019-03-26T11:19:10Z</dcterms:created>
  <dcterms:modified xsi:type="dcterms:W3CDTF">2019-03-30T12:37:55Z</dcterms:modified>
</cp:coreProperties>
</file>